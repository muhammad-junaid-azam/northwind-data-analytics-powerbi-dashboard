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0" r:id="rId6"/>
    <p:sldId id="262" r:id="rId7"/>
    <p:sldId id="263" r:id="rId8"/>
    <p:sldId id="261" r:id="rId9"/>
    <p:sldId id="264" r:id="rId10"/>
    <p:sldId id="265" r:id="rId11"/>
    <p:sldId id="266" r:id="rId12"/>
    <p:sldId id="267" r:id="rId13"/>
    <p:sldId id="268"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8" d="100"/>
          <a:sy n="68" d="100"/>
        </p:scale>
        <p:origin x="616"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presProps" Target="presProps.xml" /><Relationship Id="rId3" Type="http://schemas.openxmlformats.org/officeDocument/2006/relationships/slide" Target="slides/slide2.xml" /><Relationship Id="rId21" Type="http://schemas.openxmlformats.org/officeDocument/2006/relationships/tableStyles" Target="tableStyle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viewProps" Target="view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9274E-AE39-41A5-B0D7-BAADB88CBE7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8BF1973-705A-4915-8A3C-1B1D6FB9C0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15E4D1B-6C51-485D-A614-D4D5000A1D68}"/>
              </a:ext>
            </a:extLst>
          </p:cNvPr>
          <p:cNvSpPr>
            <a:spLocks noGrp="1"/>
          </p:cNvSpPr>
          <p:nvPr>
            <p:ph type="dt" sz="half" idx="10"/>
          </p:nvPr>
        </p:nvSpPr>
        <p:spPr/>
        <p:txBody>
          <a:bodyPr/>
          <a:lstStyle/>
          <a:p>
            <a:fld id="{8D7887BE-679B-4C45-AF2D-D63A2D501EBA}" type="datetimeFigureOut">
              <a:rPr lang="en-US" smtClean="0"/>
              <a:pPr/>
              <a:t>11/18/2025</a:t>
            </a:fld>
            <a:endParaRPr lang="en-US"/>
          </a:p>
        </p:txBody>
      </p:sp>
      <p:sp>
        <p:nvSpPr>
          <p:cNvPr id="5" name="Footer Placeholder 4">
            <a:extLst>
              <a:ext uri="{FF2B5EF4-FFF2-40B4-BE49-F238E27FC236}">
                <a16:creationId xmlns:a16="http://schemas.microsoft.com/office/drawing/2014/main" id="{861F4995-5D9F-4B82-8A38-0A0C3C3183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A45B79-9286-4297-B0D2-505DCA103BD8}"/>
              </a:ext>
            </a:extLst>
          </p:cNvPr>
          <p:cNvSpPr>
            <a:spLocks noGrp="1"/>
          </p:cNvSpPr>
          <p:nvPr>
            <p:ph type="sldNum" sz="quarter" idx="12"/>
          </p:nvPr>
        </p:nvSpPr>
        <p:spPr/>
        <p:txBody>
          <a:bodyPr/>
          <a:lstStyle/>
          <a:p>
            <a:fld id="{F23336FD-1166-49A8-9666-4800D2154A8B}" type="slidenum">
              <a:rPr lang="en-US" smtClean="0"/>
              <a:pPr/>
              <a:t>‹#›</a:t>
            </a:fld>
            <a:endParaRPr lang="en-US"/>
          </a:p>
        </p:txBody>
      </p:sp>
    </p:spTree>
    <p:extLst>
      <p:ext uri="{BB962C8B-B14F-4D97-AF65-F5344CB8AC3E}">
        <p14:creationId xmlns:p14="http://schemas.microsoft.com/office/powerpoint/2010/main" val="12260423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11CFC-DF5F-4B7D-B088-E9842009870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8E8CD3-E8D8-49E2-A647-225B1DCC5C3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F80A95-6670-4CA0-A266-040C1A61831F}"/>
              </a:ext>
            </a:extLst>
          </p:cNvPr>
          <p:cNvSpPr>
            <a:spLocks noGrp="1"/>
          </p:cNvSpPr>
          <p:nvPr>
            <p:ph type="dt" sz="half" idx="10"/>
          </p:nvPr>
        </p:nvSpPr>
        <p:spPr/>
        <p:txBody>
          <a:bodyPr/>
          <a:lstStyle/>
          <a:p>
            <a:fld id="{8D7887BE-679B-4C45-AF2D-D63A2D501EBA}" type="datetimeFigureOut">
              <a:rPr lang="en-US" smtClean="0"/>
              <a:pPr/>
              <a:t>11/18/2025</a:t>
            </a:fld>
            <a:endParaRPr lang="en-US"/>
          </a:p>
        </p:txBody>
      </p:sp>
      <p:sp>
        <p:nvSpPr>
          <p:cNvPr id="5" name="Footer Placeholder 4">
            <a:extLst>
              <a:ext uri="{FF2B5EF4-FFF2-40B4-BE49-F238E27FC236}">
                <a16:creationId xmlns:a16="http://schemas.microsoft.com/office/drawing/2014/main" id="{87C27670-DB42-4C3B-8BEF-106B2B9F27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5F2C73-A0FB-4D01-8A38-FCF4B1626296}"/>
              </a:ext>
            </a:extLst>
          </p:cNvPr>
          <p:cNvSpPr>
            <a:spLocks noGrp="1"/>
          </p:cNvSpPr>
          <p:nvPr>
            <p:ph type="sldNum" sz="quarter" idx="12"/>
          </p:nvPr>
        </p:nvSpPr>
        <p:spPr/>
        <p:txBody>
          <a:bodyPr/>
          <a:lstStyle/>
          <a:p>
            <a:fld id="{F23336FD-1166-49A8-9666-4800D2154A8B}" type="slidenum">
              <a:rPr lang="en-US" smtClean="0"/>
              <a:pPr/>
              <a:t>‹#›</a:t>
            </a:fld>
            <a:endParaRPr lang="en-US"/>
          </a:p>
        </p:txBody>
      </p:sp>
    </p:spTree>
    <p:extLst>
      <p:ext uri="{BB962C8B-B14F-4D97-AF65-F5344CB8AC3E}">
        <p14:creationId xmlns:p14="http://schemas.microsoft.com/office/powerpoint/2010/main" val="634385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0B31A-7AF0-4F29-8871-84E9C8DED57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E613EC7-74D2-414F-800F-C6C8A599AE7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F8DFCE24-2324-4442-8865-CF5B0997F520}"/>
              </a:ext>
            </a:extLst>
          </p:cNvPr>
          <p:cNvSpPr>
            <a:spLocks noGrp="1"/>
          </p:cNvSpPr>
          <p:nvPr>
            <p:ph type="dt" sz="half" idx="10"/>
          </p:nvPr>
        </p:nvSpPr>
        <p:spPr/>
        <p:txBody>
          <a:bodyPr/>
          <a:lstStyle/>
          <a:p>
            <a:fld id="{8D7887BE-679B-4C45-AF2D-D63A2D501EBA}" type="datetimeFigureOut">
              <a:rPr lang="en-US" smtClean="0"/>
              <a:pPr/>
              <a:t>11/18/2025</a:t>
            </a:fld>
            <a:endParaRPr lang="en-US"/>
          </a:p>
        </p:txBody>
      </p:sp>
      <p:sp>
        <p:nvSpPr>
          <p:cNvPr id="5" name="Footer Placeholder 4">
            <a:extLst>
              <a:ext uri="{FF2B5EF4-FFF2-40B4-BE49-F238E27FC236}">
                <a16:creationId xmlns:a16="http://schemas.microsoft.com/office/drawing/2014/main" id="{57AB7FAE-0004-4EFC-85E6-BBB83836ED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EC32F8-FE0F-4F22-9779-50EEA5771143}"/>
              </a:ext>
            </a:extLst>
          </p:cNvPr>
          <p:cNvSpPr>
            <a:spLocks noGrp="1"/>
          </p:cNvSpPr>
          <p:nvPr>
            <p:ph type="sldNum" sz="quarter" idx="12"/>
          </p:nvPr>
        </p:nvSpPr>
        <p:spPr/>
        <p:txBody>
          <a:bodyPr/>
          <a:lstStyle/>
          <a:p>
            <a:fld id="{F23336FD-1166-49A8-9666-4800D2154A8B}" type="slidenum">
              <a:rPr lang="en-US" smtClean="0"/>
              <a:pPr/>
              <a:t>‹#›</a:t>
            </a:fld>
            <a:endParaRPr lang="en-US"/>
          </a:p>
        </p:txBody>
      </p:sp>
    </p:spTree>
    <p:extLst>
      <p:ext uri="{BB962C8B-B14F-4D97-AF65-F5344CB8AC3E}">
        <p14:creationId xmlns:p14="http://schemas.microsoft.com/office/powerpoint/2010/main" val="13850701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96BFA-132D-4D47-B5A3-E7CE2DC537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B757A28-701D-434E-948E-C2E0F900CD0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A8D069F-1016-4A1A-BC57-5351FA053FA9}"/>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C3E68A-C50B-4669-9CEF-DCD3EACDFF4D}"/>
              </a:ext>
            </a:extLst>
          </p:cNvPr>
          <p:cNvSpPr>
            <a:spLocks noGrp="1"/>
          </p:cNvSpPr>
          <p:nvPr>
            <p:ph type="dt" sz="half" idx="10"/>
          </p:nvPr>
        </p:nvSpPr>
        <p:spPr/>
        <p:txBody>
          <a:bodyPr/>
          <a:lstStyle/>
          <a:p>
            <a:fld id="{8D7887BE-679B-4C45-AF2D-D63A2D501EBA}" type="datetimeFigureOut">
              <a:rPr lang="en-US" smtClean="0"/>
              <a:pPr/>
              <a:t>11/18/2025</a:t>
            </a:fld>
            <a:endParaRPr lang="en-US"/>
          </a:p>
        </p:txBody>
      </p:sp>
      <p:sp>
        <p:nvSpPr>
          <p:cNvPr id="6" name="Footer Placeholder 5">
            <a:extLst>
              <a:ext uri="{FF2B5EF4-FFF2-40B4-BE49-F238E27FC236}">
                <a16:creationId xmlns:a16="http://schemas.microsoft.com/office/drawing/2014/main" id="{96F09694-6920-45F5-9DD4-0A14EDF03A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E9F6DB-4CA3-49F4-9D23-404918432F00}"/>
              </a:ext>
            </a:extLst>
          </p:cNvPr>
          <p:cNvSpPr>
            <a:spLocks noGrp="1"/>
          </p:cNvSpPr>
          <p:nvPr>
            <p:ph type="sldNum" sz="quarter" idx="12"/>
          </p:nvPr>
        </p:nvSpPr>
        <p:spPr/>
        <p:txBody>
          <a:bodyPr/>
          <a:lstStyle/>
          <a:p>
            <a:fld id="{F23336FD-1166-49A8-9666-4800D2154A8B}" type="slidenum">
              <a:rPr lang="en-US" smtClean="0"/>
              <a:pPr/>
              <a:t>‹#›</a:t>
            </a:fld>
            <a:endParaRPr lang="en-US"/>
          </a:p>
        </p:txBody>
      </p:sp>
    </p:spTree>
    <p:extLst>
      <p:ext uri="{BB962C8B-B14F-4D97-AF65-F5344CB8AC3E}">
        <p14:creationId xmlns:p14="http://schemas.microsoft.com/office/powerpoint/2010/main" val="22796988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0D817-ABC3-4036-A717-62A1CCFC565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E42E496-030B-42F1-AD41-4BB5EB775F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5257C9C3-6CFC-4A6C-980D-A5BB4F39CF0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8C87CDD-2F64-40FD-9178-D758C5C6AF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2C8E2D3-C4E2-4688-AF33-69CFB294322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94FCFAB-B9E1-46D9-9B8D-6DCD88C083E1}"/>
              </a:ext>
            </a:extLst>
          </p:cNvPr>
          <p:cNvSpPr>
            <a:spLocks noGrp="1"/>
          </p:cNvSpPr>
          <p:nvPr>
            <p:ph type="dt" sz="half" idx="10"/>
          </p:nvPr>
        </p:nvSpPr>
        <p:spPr/>
        <p:txBody>
          <a:bodyPr/>
          <a:lstStyle/>
          <a:p>
            <a:fld id="{8D7887BE-679B-4C45-AF2D-D63A2D501EBA}" type="datetimeFigureOut">
              <a:rPr lang="en-US" smtClean="0"/>
              <a:pPr/>
              <a:t>11/18/2025</a:t>
            </a:fld>
            <a:endParaRPr lang="en-US"/>
          </a:p>
        </p:txBody>
      </p:sp>
      <p:sp>
        <p:nvSpPr>
          <p:cNvPr id="8" name="Footer Placeholder 7">
            <a:extLst>
              <a:ext uri="{FF2B5EF4-FFF2-40B4-BE49-F238E27FC236}">
                <a16:creationId xmlns:a16="http://schemas.microsoft.com/office/drawing/2014/main" id="{DE2CF232-7F7A-4FFB-AE59-0E2C6756028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A1F059-5B61-4AFF-B666-B7B9540152B9}"/>
              </a:ext>
            </a:extLst>
          </p:cNvPr>
          <p:cNvSpPr>
            <a:spLocks noGrp="1"/>
          </p:cNvSpPr>
          <p:nvPr>
            <p:ph type="sldNum" sz="quarter" idx="12"/>
          </p:nvPr>
        </p:nvSpPr>
        <p:spPr/>
        <p:txBody>
          <a:bodyPr/>
          <a:lstStyle/>
          <a:p>
            <a:fld id="{F23336FD-1166-49A8-9666-4800D2154A8B}" type="slidenum">
              <a:rPr lang="en-US" smtClean="0"/>
              <a:pPr/>
              <a:t>‹#›</a:t>
            </a:fld>
            <a:endParaRPr lang="en-US"/>
          </a:p>
        </p:txBody>
      </p:sp>
    </p:spTree>
    <p:extLst>
      <p:ext uri="{BB962C8B-B14F-4D97-AF65-F5344CB8AC3E}">
        <p14:creationId xmlns:p14="http://schemas.microsoft.com/office/powerpoint/2010/main" val="4268297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2EECD-904D-41ED-B0FF-5D2AEEC19A6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17EDFA5-9050-47DF-9E17-D27AC164272C}"/>
              </a:ext>
            </a:extLst>
          </p:cNvPr>
          <p:cNvSpPr>
            <a:spLocks noGrp="1"/>
          </p:cNvSpPr>
          <p:nvPr>
            <p:ph type="dt" sz="half" idx="10"/>
          </p:nvPr>
        </p:nvSpPr>
        <p:spPr/>
        <p:txBody>
          <a:bodyPr/>
          <a:lstStyle/>
          <a:p>
            <a:fld id="{8D7887BE-679B-4C45-AF2D-D63A2D501EBA}" type="datetimeFigureOut">
              <a:rPr lang="en-US" smtClean="0"/>
              <a:pPr/>
              <a:t>11/18/2025</a:t>
            </a:fld>
            <a:endParaRPr lang="en-US"/>
          </a:p>
        </p:txBody>
      </p:sp>
      <p:sp>
        <p:nvSpPr>
          <p:cNvPr id="4" name="Footer Placeholder 3">
            <a:extLst>
              <a:ext uri="{FF2B5EF4-FFF2-40B4-BE49-F238E27FC236}">
                <a16:creationId xmlns:a16="http://schemas.microsoft.com/office/drawing/2014/main" id="{11AD27D4-E5E4-4DA4-BCB0-3F84FC7ADC2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95B694C-4683-4962-B53A-F73F8FC40ECF}"/>
              </a:ext>
            </a:extLst>
          </p:cNvPr>
          <p:cNvSpPr>
            <a:spLocks noGrp="1"/>
          </p:cNvSpPr>
          <p:nvPr>
            <p:ph type="sldNum" sz="quarter" idx="12"/>
          </p:nvPr>
        </p:nvSpPr>
        <p:spPr/>
        <p:txBody>
          <a:bodyPr/>
          <a:lstStyle/>
          <a:p>
            <a:fld id="{F23336FD-1166-49A8-9666-4800D2154A8B}" type="slidenum">
              <a:rPr lang="en-US" smtClean="0"/>
              <a:pPr/>
              <a:t>‹#›</a:t>
            </a:fld>
            <a:endParaRPr lang="en-US"/>
          </a:p>
        </p:txBody>
      </p:sp>
    </p:spTree>
    <p:extLst>
      <p:ext uri="{BB962C8B-B14F-4D97-AF65-F5344CB8AC3E}">
        <p14:creationId xmlns:p14="http://schemas.microsoft.com/office/powerpoint/2010/main" val="996898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D848F4-BA26-45A6-ACE2-7C61D5253664}"/>
              </a:ext>
            </a:extLst>
          </p:cNvPr>
          <p:cNvSpPr>
            <a:spLocks noGrp="1"/>
          </p:cNvSpPr>
          <p:nvPr>
            <p:ph type="dt" sz="half" idx="10"/>
          </p:nvPr>
        </p:nvSpPr>
        <p:spPr/>
        <p:txBody>
          <a:bodyPr/>
          <a:lstStyle/>
          <a:p>
            <a:fld id="{8D7887BE-679B-4C45-AF2D-D63A2D501EBA}" type="datetimeFigureOut">
              <a:rPr lang="en-US" smtClean="0"/>
              <a:pPr/>
              <a:t>11/18/2025</a:t>
            </a:fld>
            <a:endParaRPr lang="en-US"/>
          </a:p>
        </p:txBody>
      </p:sp>
      <p:sp>
        <p:nvSpPr>
          <p:cNvPr id="3" name="Footer Placeholder 2">
            <a:extLst>
              <a:ext uri="{FF2B5EF4-FFF2-40B4-BE49-F238E27FC236}">
                <a16:creationId xmlns:a16="http://schemas.microsoft.com/office/drawing/2014/main" id="{24E1B63A-8133-4B96-A3C7-816F557C3EA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58215AC-5130-4EE4-9E5F-D82E1A1CC48D}"/>
              </a:ext>
            </a:extLst>
          </p:cNvPr>
          <p:cNvSpPr>
            <a:spLocks noGrp="1"/>
          </p:cNvSpPr>
          <p:nvPr>
            <p:ph type="sldNum" sz="quarter" idx="12"/>
          </p:nvPr>
        </p:nvSpPr>
        <p:spPr/>
        <p:txBody>
          <a:bodyPr/>
          <a:lstStyle/>
          <a:p>
            <a:fld id="{F23336FD-1166-49A8-9666-4800D2154A8B}" type="slidenum">
              <a:rPr lang="en-US" smtClean="0"/>
              <a:pPr/>
              <a:t>‹#›</a:t>
            </a:fld>
            <a:endParaRPr lang="en-US"/>
          </a:p>
        </p:txBody>
      </p:sp>
    </p:spTree>
    <p:extLst>
      <p:ext uri="{BB962C8B-B14F-4D97-AF65-F5344CB8AC3E}">
        <p14:creationId xmlns:p14="http://schemas.microsoft.com/office/powerpoint/2010/main" val="31258480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803F0-003D-4436-9659-4C3527AB22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95A9A79-B4C4-446A-AF4F-A3934FE698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C147FB2-A717-4571-BD5D-104F5DAAF8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91DD58F-C3BC-4360-9531-1563CBCD8DA6}"/>
              </a:ext>
            </a:extLst>
          </p:cNvPr>
          <p:cNvSpPr>
            <a:spLocks noGrp="1"/>
          </p:cNvSpPr>
          <p:nvPr>
            <p:ph type="dt" sz="half" idx="10"/>
          </p:nvPr>
        </p:nvSpPr>
        <p:spPr/>
        <p:txBody>
          <a:bodyPr/>
          <a:lstStyle/>
          <a:p>
            <a:fld id="{8D7887BE-679B-4C45-AF2D-D63A2D501EBA}" type="datetimeFigureOut">
              <a:rPr lang="en-US" smtClean="0"/>
              <a:pPr/>
              <a:t>11/18/2025</a:t>
            </a:fld>
            <a:endParaRPr lang="en-US"/>
          </a:p>
        </p:txBody>
      </p:sp>
      <p:sp>
        <p:nvSpPr>
          <p:cNvPr id="6" name="Footer Placeholder 5">
            <a:extLst>
              <a:ext uri="{FF2B5EF4-FFF2-40B4-BE49-F238E27FC236}">
                <a16:creationId xmlns:a16="http://schemas.microsoft.com/office/drawing/2014/main" id="{8C2B015D-A060-4858-99E8-31F4BA9B52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0878C0-099C-4355-8B0A-48AAAA9310B0}"/>
              </a:ext>
            </a:extLst>
          </p:cNvPr>
          <p:cNvSpPr>
            <a:spLocks noGrp="1"/>
          </p:cNvSpPr>
          <p:nvPr>
            <p:ph type="sldNum" sz="quarter" idx="12"/>
          </p:nvPr>
        </p:nvSpPr>
        <p:spPr/>
        <p:txBody>
          <a:bodyPr/>
          <a:lstStyle/>
          <a:p>
            <a:fld id="{F23336FD-1166-49A8-9666-4800D2154A8B}" type="slidenum">
              <a:rPr lang="en-US" smtClean="0"/>
              <a:pPr/>
              <a:t>‹#›</a:t>
            </a:fld>
            <a:endParaRPr lang="en-US"/>
          </a:p>
        </p:txBody>
      </p:sp>
    </p:spTree>
    <p:extLst>
      <p:ext uri="{BB962C8B-B14F-4D97-AF65-F5344CB8AC3E}">
        <p14:creationId xmlns:p14="http://schemas.microsoft.com/office/powerpoint/2010/main" val="9082166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C33B7-18E1-480D-9D2B-360FA3C884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DA05AB3-BB9F-41E4-99EF-52F04C25B2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4DBD5EC-9E6D-4043-98B2-1475827E2C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DD2645D-3FD3-4710-8FB6-BEDD2E7A138A}"/>
              </a:ext>
            </a:extLst>
          </p:cNvPr>
          <p:cNvSpPr>
            <a:spLocks noGrp="1"/>
          </p:cNvSpPr>
          <p:nvPr>
            <p:ph type="dt" sz="half" idx="10"/>
          </p:nvPr>
        </p:nvSpPr>
        <p:spPr/>
        <p:txBody>
          <a:bodyPr/>
          <a:lstStyle/>
          <a:p>
            <a:fld id="{8D7887BE-679B-4C45-AF2D-D63A2D501EBA}" type="datetimeFigureOut">
              <a:rPr lang="en-US" smtClean="0"/>
              <a:pPr/>
              <a:t>11/18/2025</a:t>
            </a:fld>
            <a:endParaRPr lang="en-US"/>
          </a:p>
        </p:txBody>
      </p:sp>
      <p:sp>
        <p:nvSpPr>
          <p:cNvPr id="6" name="Footer Placeholder 5">
            <a:extLst>
              <a:ext uri="{FF2B5EF4-FFF2-40B4-BE49-F238E27FC236}">
                <a16:creationId xmlns:a16="http://schemas.microsoft.com/office/drawing/2014/main" id="{18588258-D315-44D1-B193-FADFDAF8B6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C69552-DB14-4999-B694-DE123D7F88E3}"/>
              </a:ext>
            </a:extLst>
          </p:cNvPr>
          <p:cNvSpPr>
            <a:spLocks noGrp="1"/>
          </p:cNvSpPr>
          <p:nvPr>
            <p:ph type="sldNum" sz="quarter" idx="12"/>
          </p:nvPr>
        </p:nvSpPr>
        <p:spPr/>
        <p:txBody>
          <a:bodyPr/>
          <a:lstStyle/>
          <a:p>
            <a:fld id="{F23336FD-1166-49A8-9666-4800D2154A8B}" type="slidenum">
              <a:rPr lang="en-US" smtClean="0"/>
              <a:pPr/>
              <a:t>‹#›</a:t>
            </a:fld>
            <a:endParaRPr lang="en-US"/>
          </a:p>
        </p:txBody>
      </p:sp>
    </p:spTree>
    <p:extLst>
      <p:ext uri="{BB962C8B-B14F-4D97-AF65-F5344CB8AC3E}">
        <p14:creationId xmlns:p14="http://schemas.microsoft.com/office/powerpoint/2010/main" val="2406366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9AD77-8607-47AF-A78A-2F1B4F54F4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A5188C2-7792-432A-8FEA-32064AF035F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5C214D-F7C5-4C63-8DFC-3E0BDA7EDF2F}"/>
              </a:ext>
            </a:extLst>
          </p:cNvPr>
          <p:cNvSpPr>
            <a:spLocks noGrp="1"/>
          </p:cNvSpPr>
          <p:nvPr>
            <p:ph type="dt" sz="half" idx="10"/>
          </p:nvPr>
        </p:nvSpPr>
        <p:spPr/>
        <p:txBody>
          <a:bodyPr/>
          <a:lstStyle/>
          <a:p>
            <a:fld id="{8D7887BE-679B-4C45-AF2D-D63A2D501EBA}" type="datetimeFigureOut">
              <a:rPr lang="en-US" smtClean="0"/>
              <a:pPr/>
              <a:t>11/18/2025</a:t>
            </a:fld>
            <a:endParaRPr lang="en-US"/>
          </a:p>
        </p:txBody>
      </p:sp>
      <p:sp>
        <p:nvSpPr>
          <p:cNvPr id="5" name="Footer Placeholder 4">
            <a:extLst>
              <a:ext uri="{FF2B5EF4-FFF2-40B4-BE49-F238E27FC236}">
                <a16:creationId xmlns:a16="http://schemas.microsoft.com/office/drawing/2014/main" id="{91697159-F511-4A23-A0E4-DD5ED4C8C4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2AAF6A-8CC4-437F-91B2-A9F720307FF4}"/>
              </a:ext>
            </a:extLst>
          </p:cNvPr>
          <p:cNvSpPr>
            <a:spLocks noGrp="1"/>
          </p:cNvSpPr>
          <p:nvPr>
            <p:ph type="sldNum" sz="quarter" idx="12"/>
          </p:nvPr>
        </p:nvSpPr>
        <p:spPr/>
        <p:txBody>
          <a:bodyPr/>
          <a:lstStyle/>
          <a:p>
            <a:fld id="{F23336FD-1166-49A8-9666-4800D2154A8B}" type="slidenum">
              <a:rPr lang="en-US" smtClean="0"/>
              <a:pPr/>
              <a:t>‹#›</a:t>
            </a:fld>
            <a:endParaRPr lang="en-US"/>
          </a:p>
        </p:txBody>
      </p:sp>
    </p:spTree>
    <p:extLst>
      <p:ext uri="{BB962C8B-B14F-4D97-AF65-F5344CB8AC3E}">
        <p14:creationId xmlns:p14="http://schemas.microsoft.com/office/powerpoint/2010/main" val="1512599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EE2D5D-57AB-427A-93F1-1B898171FAB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43FCC61-A51A-4EE1-8AF2-43B695EB494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F7794A-88B2-46DC-A1DF-F0138B38C185}"/>
              </a:ext>
            </a:extLst>
          </p:cNvPr>
          <p:cNvSpPr>
            <a:spLocks noGrp="1"/>
          </p:cNvSpPr>
          <p:nvPr>
            <p:ph type="dt" sz="half" idx="10"/>
          </p:nvPr>
        </p:nvSpPr>
        <p:spPr/>
        <p:txBody>
          <a:bodyPr/>
          <a:lstStyle/>
          <a:p>
            <a:fld id="{8D7887BE-679B-4C45-AF2D-D63A2D501EBA}" type="datetimeFigureOut">
              <a:rPr lang="en-US" smtClean="0"/>
              <a:pPr/>
              <a:t>11/18/2025</a:t>
            </a:fld>
            <a:endParaRPr lang="en-US"/>
          </a:p>
        </p:txBody>
      </p:sp>
      <p:sp>
        <p:nvSpPr>
          <p:cNvPr id="5" name="Footer Placeholder 4">
            <a:extLst>
              <a:ext uri="{FF2B5EF4-FFF2-40B4-BE49-F238E27FC236}">
                <a16:creationId xmlns:a16="http://schemas.microsoft.com/office/drawing/2014/main" id="{180A5203-3497-45B4-A36B-A39A3F6B02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E7370D-7CC1-4B40-8DC4-A9BE70079EFC}"/>
              </a:ext>
            </a:extLst>
          </p:cNvPr>
          <p:cNvSpPr>
            <a:spLocks noGrp="1"/>
          </p:cNvSpPr>
          <p:nvPr>
            <p:ph type="sldNum" sz="quarter" idx="12"/>
          </p:nvPr>
        </p:nvSpPr>
        <p:spPr/>
        <p:txBody>
          <a:bodyPr/>
          <a:lstStyle/>
          <a:p>
            <a:fld id="{F23336FD-1166-49A8-9666-4800D2154A8B}" type="slidenum">
              <a:rPr lang="en-US" smtClean="0"/>
              <a:pPr/>
              <a:t>‹#›</a:t>
            </a:fld>
            <a:endParaRPr lang="en-US"/>
          </a:p>
        </p:txBody>
      </p:sp>
    </p:spTree>
    <p:extLst>
      <p:ext uri="{BB962C8B-B14F-4D97-AF65-F5344CB8AC3E}">
        <p14:creationId xmlns:p14="http://schemas.microsoft.com/office/powerpoint/2010/main" val="24673481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61087B-059C-42C5-8E35-53E76D53F6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6DE678F-6F46-4155-992B-327AA218CB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975CB0-00B3-4DF7-9C15-0C05CAF325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7887BE-679B-4C45-AF2D-D63A2D501EBA}" type="datetimeFigureOut">
              <a:rPr lang="en-US" smtClean="0"/>
              <a:pPr/>
              <a:t>11/18/2025</a:t>
            </a:fld>
            <a:endParaRPr lang="en-US"/>
          </a:p>
        </p:txBody>
      </p:sp>
      <p:sp>
        <p:nvSpPr>
          <p:cNvPr id="5" name="Footer Placeholder 4">
            <a:extLst>
              <a:ext uri="{FF2B5EF4-FFF2-40B4-BE49-F238E27FC236}">
                <a16:creationId xmlns:a16="http://schemas.microsoft.com/office/drawing/2014/main" id="{55E96932-210B-4F2E-A351-25788DD85A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0C28659-334C-48A3-B999-5217E71E2D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3336FD-1166-49A8-9666-4800D2154A8B}" type="slidenum">
              <a:rPr lang="en-US" smtClean="0"/>
              <a:pPr/>
              <a:t>‹#›</a:t>
            </a:fld>
            <a:endParaRPr lang="en-US"/>
          </a:p>
        </p:txBody>
      </p:sp>
    </p:spTree>
    <p:extLst>
      <p:ext uri="{BB962C8B-B14F-4D97-AF65-F5344CB8AC3E}">
        <p14:creationId xmlns:p14="http://schemas.microsoft.com/office/powerpoint/2010/main" val="42298401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image" Target="../media/image4.pn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image" Target="../media/image6.png" /><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image" Target="../media/image7.png" /><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image" Target="../media/image8.png" /><Relationship Id="rId1" Type="http://schemas.openxmlformats.org/officeDocument/2006/relationships/slideLayout" Target="../slideLayouts/slideLayout7.xml" /><Relationship Id="rId4" Type="http://schemas.openxmlformats.org/officeDocument/2006/relationships/image" Target="../media/image1.png" /></Relationships>
</file>

<file path=ppt/slides/_rels/slide12.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image" Target="../media/image10.png" /><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image" Target="../media/image11.png" /><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image" Target="../media/image12.png" /><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Relationship Id="rId3" Type="http://schemas.openxmlformats.org/officeDocument/2006/relationships/image" Target="../media/image13.png" /><Relationship Id="rId2" Type="http://schemas.openxmlformats.org/officeDocument/2006/relationships/image" Target="../media/image1.png" /><Relationship Id="rId1" Type="http://schemas.openxmlformats.org/officeDocument/2006/relationships/slideLayout" Target="../slideLayouts/slideLayout7.xml" /></Relationships>
</file>

<file path=ppt/slides/_rels/slide16.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5757D-2978-49F9-8419-CC266E6CD85D}"/>
              </a:ext>
            </a:extLst>
          </p:cNvPr>
          <p:cNvSpPr>
            <a:spLocks noGrp="1"/>
          </p:cNvSpPr>
          <p:nvPr>
            <p:ph type="ctrTitle"/>
          </p:nvPr>
        </p:nvSpPr>
        <p:spPr>
          <a:xfrm>
            <a:off x="2108462" y="1423448"/>
            <a:ext cx="7073246" cy="1049566"/>
          </a:xfrm>
        </p:spPr>
        <p:txBody>
          <a:bodyPr anchor="ctr">
            <a:normAutofit/>
          </a:bodyPr>
          <a:lstStyle/>
          <a:p>
            <a:r>
              <a:rPr lang="en-US" sz="3600" b="1" dirty="0"/>
              <a:t>CAPSTONE PROJECT 2</a:t>
            </a:r>
          </a:p>
        </p:txBody>
      </p:sp>
      <p:sp>
        <p:nvSpPr>
          <p:cNvPr id="3" name="Subtitle 2">
            <a:extLst>
              <a:ext uri="{FF2B5EF4-FFF2-40B4-BE49-F238E27FC236}">
                <a16:creationId xmlns:a16="http://schemas.microsoft.com/office/drawing/2014/main" id="{45629798-EBC1-4427-9D86-6F7C7E02A2C4}"/>
              </a:ext>
            </a:extLst>
          </p:cNvPr>
          <p:cNvSpPr>
            <a:spLocks noGrp="1"/>
          </p:cNvSpPr>
          <p:nvPr>
            <p:ph type="subTitle" idx="1"/>
          </p:nvPr>
        </p:nvSpPr>
        <p:spPr>
          <a:xfrm>
            <a:off x="911258" y="2552471"/>
            <a:ext cx="10504602" cy="2996725"/>
          </a:xfrm>
        </p:spPr>
        <p:txBody>
          <a:bodyPr>
            <a:normAutofit/>
          </a:bodyPr>
          <a:lstStyle/>
          <a:p>
            <a:pPr algn="l"/>
            <a:r>
              <a:rPr lang="en-US" dirty="0"/>
              <a:t>Name : Muhammad Junaid Azam</a:t>
            </a:r>
          </a:p>
          <a:p>
            <a:pPr algn="l"/>
            <a:r>
              <a:rPr lang="en-US" dirty="0"/>
              <a:t>Course : Data Analytics </a:t>
            </a:r>
          </a:p>
          <a:p>
            <a:pPr algn="l"/>
            <a:r>
              <a:rPr lang="en-US" dirty="0"/>
              <a:t>Cohort : 21 </a:t>
            </a:r>
          </a:p>
          <a:p>
            <a:pPr algn="l"/>
            <a:r>
              <a:rPr lang="en-US" dirty="0"/>
              <a:t>Database : </a:t>
            </a:r>
            <a:r>
              <a:rPr lang="en-US" b="1" dirty="0">
                <a:solidFill>
                  <a:schemeClr val="accent1"/>
                </a:solidFill>
              </a:rPr>
              <a:t>Northwind</a:t>
            </a:r>
            <a:r>
              <a:rPr lang="en-US" dirty="0"/>
              <a:t> </a:t>
            </a:r>
          </a:p>
          <a:p>
            <a:pPr algn="l"/>
            <a:r>
              <a:rPr lang="en-US" dirty="0"/>
              <a:t>Instructor Name : Ma’am </a:t>
            </a:r>
            <a:r>
              <a:rPr lang="en-US" dirty="0" err="1"/>
              <a:t>Ilsa</a:t>
            </a:r>
            <a:r>
              <a:rPr lang="en-US" dirty="0"/>
              <a:t> </a:t>
            </a:r>
          </a:p>
          <a:p>
            <a:pPr algn="l"/>
            <a:r>
              <a:rPr lang="en-US" dirty="0"/>
              <a:t>Dated : 16-Novembmer- 2025</a:t>
            </a:r>
          </a:p>
          <a:p>
            <a:pPr algn="l"/>
            <a:endParaRPr lang="en-US" dirty="0"/>
          </a:p>
          <a:p>
            <a:pPr algn="l"/>
            <a:endParaRPr lang="en-US" dirty="0"/>
          </a:p>
        </p:txBody>
      </p:sp>
      <p:pic>
        <p:nvPicPr>
          <p:cNvPr id="5" name="Picture 2" descr="Learn and Earn via Digital Skills">
            <a:extLst>
              <a:ext uri="{FF2B5EF4-FFF2-40B4-BE49-F238E27FC236}">
                <a16:creationId xmlns:a16="http://schemas.microsoft.com/office/drawing/2014/main" id="{6A2645A2-0C8D-4016-ACD2-7F7B854BC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63391"/>
            <a:ext cx="3864989" cy="6187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70283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43389-6995-4F18-9C0A-4CF136A94C25}"/>
              </a:ext>
            </a:extLst>
          </p:cNvPr>
          <p:cNvSpPr>
            <a:spLocks noGrp="1"/>
          </p:cNvSpPr>
          <p:nvPr>
            <p:ph type="title"/>
          </p:nvPr>
        </p:nvSpPr>
        <p:spPr>
          <a:xfrm>
            <a:off x="838200" y="756501"/>
            <a:ext cx="10515600" cy="5344997"/>
          </a:xfrm>
        </p:spPr>
        <p:txBody>
          <a:bodyPr>
            <a:normAutofit/>
          </a:bodyPr>
          <a:lstStyle/>
          <a:p>
            <a:pPr lvl="0" algn="ctr" eaLnBrk="0" fontAlgn="base" hangingPunct="0">
              <a:lnSpc>
                <a:spcPct val="100000"/>
              </a:lnSpc>
              <a:spcAft>
                <a:spcPct val="0"/>
              </a:spcAft>
            </a:pPr>
            <a:br>
              <a:rPr kumimoji="0" lang="en-US" altLang="en-US" sz="1600" b="0" i="0" u="none" strike="noStrike" cap="none" normalizeH="0" baseline="0" dirty="0">
                <a:ln>
                  <a:noFill/>
                </a:ln>
                <a:solidFill>
                  <a:srgbClr val="000000"/>
                </a:solidFill>
                <a:effectLst/>
                <a:latin typeface="Arial" panose="020B0604020202020204" pitchFamily="34" charset="0"/>
              </a:rPr>
            </a:br>
            <a:r>
              <a:rPr kumimoji="0" lang="en-US" altLang="en-US" sz="2400" b="1" i="0" u="none" strike="noStrike" cap="none" normalizeH="0" baseline="0" dirty="0">
                <a:ln>
                  <a:noFill/>
                </a:ln>
                <a:solidFill>
                  <a:srgbClr val="000000"/>
                </a:solidFill>
                <a:effectLst/>
                <a:latin typeface="Arial" panose="020B0604020202020204" pitchFamily="34" charset="0"/>
              </a:rPr>
              <a:t>Project Overview </a:t>
            </a:r>
            <a:br>
              <a:rPr kumimoji="0" lang="en-US" altLang="en-US" sz="1600" b="0" i="0" u="none" strike="noStrike" cap="none" normalizeH="0" baseline="0" dirty="0">
                <a:ln>
                  <a:noFill/>
                </a:ln>
                <a:solidFill>
                  <a:srgbClr val="000000"/>
                </a:solidFill>
                <a:effectLst/>
                <a:latin typeface="Arial" panose="020B0604020202020204" pitchFamily="34" charset="0"/>
              </a:rPr>
            </a:br>
            <a:br>
              <a:rPr kumimoji="0" lang="en-US" altLang="en-US" sz="1600" b="0" i="0" u="none" strike="noStrike" cap="none" normalizeH="0" baseline="0" dirty="0">
                <a:ln>
                  <a:noFill/>
                </a:ln>
                <a:solidFill>
                  <a:srgbClr val="000000"/>
                </a:solidFill>
                <a:effectLst/>
                <a:latin typeface="Arial" panose="020B0604020202020204" pitchFamily="34" charset="0"/>
              </a:rPr>
            </a:br>
            <a:r>
              <a:rPr kumimoji="0" lang="en-US" altLang="en-US" sz="1600" b="0" i="0" u="none" strike="noStrike" cap="none" normalizeH="0" baseline="0" dirty="0">
                <a:ln>
                  <a:noFill/>
                </a:ln>
                <a:solidFill>
                  <a:srgbClr val="000000"/>
                </a:solidFill>
                <a:effectLst/>
                <a:latin typeface="Arial" panose="020B0604020202020204" pitchFamily="34" charset="0"/>
              </a:rPr>
              <a:t>End-to-end analysis of the Northwind sales dataset using MySQL for data querying and Power BI for interactive dashboarding.</a:t>
            </a:r>
            <a:r>
              <a:rPr kumimoji="0" lang="en-US" altLang="en-US" sz="1600" b="0" i="0" u="none" strike="noStrike" cap="none" normalizeH="0" baseline="0" dirty="0">
                <a:ln>
                  <a:noFill/>
                </a:ln>
                <a:solidFill>
                  <a:schemeClr val="tx1"/>
                </a:solidFill>
                <a:effectLst/>
                <a:latin typeface="Arial" panose="020B0604020202020204" pitchFamily="34" charset="0"/>
              </a:rPr>
              <a:t> </a:t>
            </a:r>
            <a:br>
              <a:rPr kumimoji="0" lang="en-US" altLang="en-US" sz="1600" b="0" i="0" u="none" strike="noStrike" cap="none" normalizeH="0" baseline="0" dirty="0">
                <a:ln>
                  <a:noFill/>
                </a:ln>
                <a:solidFill>
                  <a:srgbClr val="000000"/>
                </a:solidFill>
                <a:effectLst/>
                <a:latin typeface="Arial" panose="020B0604020202020204" pitchFamily="34" charset="0"/>
              </a:rPr>
            </a:br>
            <a:br>
              <a:rPr kumimoji="0" lang="en-US" altLang="en-US" sz="1600" b="0" i="0" u="none" strike="noStrike" cap="none" normalizeH="0" baseline="0" dirty="0">
                <a:ln>
                  <a:noFill/>
                </a:ln>
                <a:solidFill>
                  <a:srgbClr val="000000"/>
                </a:solidFill>
                <a:effectLst/>
                <a:latin typeface="Arial" panose="020B0604020202020204" pitchFamily="34" charset="0"/>
              </a:rPr>
            </a:br>
            <a:r>
              <a:rPr kumimoji="0" lang="en-US" altLang="en-US" sz="2400" b="1" i="0" u="none" strike="noStrike" cap="none" normalizeH="0" baseline="0" dirty="0">
                <a:ln>
                  <a:noFill/>
                </a:ln>
                <a:solidFill>
                  <a:srgbClr val="000000"/>
                </a:solidFill>
                <a:effectLst/>
                <a:latin typeface="Arial" panose="020B0604020202020204" pitchFamily="34" charset="0"/>
              </a:rPr>
              <a:t>Objective: </a:t>
            </a:r>
            <a:br>
              <a:rPr kumimoji="0" lang="en-US" altLang="en-US" sz="1600" b="0" i="0" u="none" strike="noStrike" cap="none" normalizeH="0" baseline="0" dirty="0">
                <a:ln>
                  <a:noFill/>
                </a:ln>
                <a:solidFill>
                  <a:srgbClr val="000000"/>
                </a:solidFill>
                <a:effectLst/>
                <a:latin typeface="Arial" panose="020B0604020202020204" pitchFamily="34" charset="0"/>
              </a:rPr>
            </a:br>
            <a:br>
              <a:rPr kumimoji="0" lang="en-US" altLang="en-US" sz="1600" b="0" i="0" u="none" strike="noStrike" cap="none" normalizeH="0" baseline="0" dirty="0">
                <a:ln>
                  <a:noFill/>
                </a:ln>
                <a:solidFill>
                  <a:srgbClr val="000000"/>
                </a:solidFill>
                <a:effectLst/>
                <a:latin typeface="Arial" panose="020B0604020202020204" pitchFamily="34" charset="0"/>
              </a:rPr>
            </a:br>
            <a:r>
              <a:rPr kumimoji="0" lang="en-US" altLang="en-US" sz="1600" b="0" i="0" u="none" strike="noStrike" cap="none" normalizeH="0" baseline="0" dirty="0">
                <a:ln>
                  <a:noFill/>
                </a:ln>
                <a:solidFill>
                  <a:srgbClr val="000000"/>
                </a:solidFill>
                <a:effectLst/>
                <a:latin typeface="Arial" panose="020B0604020202020204" pitchFamily="34" charset="0"/>
              </a:rPr>
              <a:t>Transform raw transactional data into actionable insights on sales performance, customer behavior, and product profitability.</a:t>
            </a:r>
            <a:r>
              <a:rPr kumimoji="0" lang="en-US" altLang="en-US" sz="1600" b="0" i="0" u="none" strike="noStrike" cap="none" normalizeH="0" baseline="0" dirty="0">
                <a:ln>
                  <a:noFill/>
                </a:ln>
                <a:solidFill>
                  <a:schemeClr val="tx1"/>
                </a:solidFill>
                <a:effectLst/>
                <a:latin typeface="Arial" panose="020B0604020202020204" pitchFamily="34" charset="0"/>
              </a:rPr>
              <a:t> </a:t>
            </a:r>
            <a:br>
              <a:rPr kumimoji="0" lang="en-US" altLang="en-US" sz="1600" b="0" i="0" u="none" strike="noStrike" cap="none" normalizeH="0" baseline="0" dirty="0">
                <a:ln>
                  <a:noFill/>
                </a:ln>
                <a:solidFill>
                  <a:srgbClr val="000000"/>
                </a:solidFill>
                <a:effectLst/>
                <a:latin typeface="Arial" panose="020B0604020202020204" pitchFamily="34" charset="0"/>
              </a:rPr>
            </a:br>
            <a:br>
              <a:rPr kumimoji="0" lang="en-US" altLang="en-US" sz="1600" b="0" i="0" u="none" strike="noStrike" cap="none" normalizeH="0" baseline="0" dirty="0">
                <a:ln>
                  <a:noFill/>
                </a:ln>
                <a:solidFill>
                  <a:srgbClr val="000000"/>
                </a:solidFill>
                <a:effectLst/>
                <a:latin typeface="Arial" panose="020B0604020202020204" pitchFamily="34" charset="0"/>
              </a:rPr>
            </a:br>
            <a:br>
              <a:rPr kumimoji="0" lang="en-US" altLang="en-US" sz="1600" b="0" i="0" u="none" strike="noStrike" cap="none" normalizeH="0" baseline="0" dirty="0">
                <a:ln>
                  <a:noFill/>
                </a:ln>
                <a:solidFill>
                  <a:srgbClr val="000000"/>
                </a:solidFill>
                <a:effectLst/>
                <a:latin typeface="Arial" panose="020B0604020202020204" pitchFamily="34" charset="0"/>
              </a:rPr>
            </a:br>
            <a:r>
              <a:rPr kumimoji="0" lang="en-US" altLang="en-US" sz="2400" b="1" i="0" u="none" strike="noStrike" cap="none" normalizeH="0" baseline="0" dirty="0">
                <a:ln>
                  <a:noFill/>
                </a:ln>
                <a:solidFill>
                  <a:srgbClr val="000000"/>
                </a:solidFill>
                <a:effectLst/>
                <a:latin typeface="Arial" panose="020B0604020202020204" pitchFamily="34" charset="0"/>
              </a:rPr>
              <a:t>Outcomes</a:t>
            </a:r>
            <a:r>
              <a:rPr kumimoji="0" lang="en-US" altLang="en-US" sz="2400" b="0" i="0" u="none" strike="noStrike" cap="none" normalizeH="0" baseline="0" dirty="0">
                <a:ln>
                  <a:noFill/>
                </a:ln>
                <a:solidFill>
                  <a:srgbClr val="000000"/>
                </a:solidFill>
                <a:effectLst/>
                <a:latin typeface="Arial" panose="020B0604020202020204" pitchFamily="34" charset="0"/>
              </a:rPr>
              <a:t>:</a:t>
            </a:r>
            <a:br>
              <a:rPr kumimoji="0" lang="en-US" altLang="en-US" sz="1600" b="0" i="0" u="none" strike="noStrike" cap="none" normalizeH="0" baseline="0" dirty="0">
                <a:ln>
                  <a:noFill/>
                </a:ln>
                <a:solidFill>
                  <a:srgbClr val="000000"/>
                </a:solidFill>
                <a:effectLst/>
                <a:latin typeface="Arial" panose="020B0604020202020204" pitchFamily="34" charset="0"/>
              </a:rPr>
            </a:br>
            <a:br>
              <a:rPr kumimoji="0" lang="en-US" altLang="en-US" sz="1600" b="0" i="0" u="none" strike="noStrike" cap="none" normalizeH="0" baseline="0" dirty="0">
                <a:ln>
                  <a:noFill/>
                </a:ln>
                <a:solidFill>
                  <a:srgbClr val="000000"/>
                </a:solidFill>
                <a:effectLst/>
                <a:latin typeface="Arial" panose="020B0604020202020204" pitchFamily="34" charset="0"/>
              </a:rPr>
            </a:br>
            <a:r>
              <a:rPr kumimoji="0" lang="en-US" altLang="en-US" sz="1600" b="0" i="0" u="none" strike="noStrike" cap="none" normalizeH="0" baseline="0" dirty="0">
                <a:ln>
                  <a:noFill/>
                </a:ln>
                <a:solidFill>
                  <a:srgbClr val="000000"/>
                </a:solidFill>
                <a:effectLst/>
                <a:latin typeface="Arial" panose="020B0604020202020204" pitchFamily="34" charset="0"/>
              </a:rPr>
              <a:t>A robust, refreshable dashboard enabling stakeholders to monitor revenue, top customers/products, regional trends, and order fulfillment KPIs in real time.</a:t>
            </a:r>
            <a:r>
              <a:rPr kumimoji="0" lang="en-US" altLang="en-US" sz="1600" b="0" i="0" u="none" strike="noStrike" cap="none" normalizeH="0" baseline="0" dirty="0">
                <a:ln>
                  <a:noFill/>
                </a:ln>
                <a:solidFill>
                  <a:schemeClr val="tx1"/>
                </a:solidFill>
                <a:effectLst/>
                <a:latin typeface="Arial" panose="020B0604020202020204" pitchFamily="34" charset="0"/>
              </a:rPr>
              <a:t> </a:t>
            </a:r>
            <a:br>
              <a:rPr kumimoji="0" lang="en-US" altLang="en-US" sz="1600" b="0" i="0" u="none" strike="noStrike" cap="none" normalizeH="0" baseline="0" dirty="0">
                <a:ln>
                  <a:noFill/>
                </a:ln>
                <a:solidFill>
                  <a:schemeClr val="tx1"/>
                </a:solidFill>
                <a:effectLst/>
                <a:latin typeface="Arial" panose="020B0604020202020204" pitchFamily="34" charset="0"/>
              </a:rPr>
            </a:br>
            <a:endParaRPr lang="en-US" sz="1600" dirty="0"/>
          </a:p>
        </p:txBody>
      </p:sp>
      <p:pic>
        <p:nvPicPr>
          <p:cNvPr id="6" name="Picture 2" descr="Learn and Earn via Digital Skills">
            <a:extLst>
              <a:ext uri="{FF2B5EF4-FFF2-40B4-BE49-F238E27FC236}">
                <a16:creationId xmlns:a16="http://schemas.microsoft.com/office/drawing/2014/main" id="{D5CE4827-176A-4430-B69C-A4CB0377CF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63391"/>
            <a:ext cx="3864989" cy="6187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8828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5BA75-DCDA-4A08-AFEF-CB69EF9FAFD5}"/>
              </a:ext>
            </a:extLst>
          </p:cNvPr>
          <p:cNvSpPr>
            <a:spLocks noGrp="1"/>
          </p:cNvSpPr>
          <p:nvPr>
            <p:ph type="ctrTitle"/>
          </p:nvPr>
        </p:nvSpPr>
        <p:spPr>
          <a:xfrm>
            <a:off x="1363745" y="1207704"/>
            <a:ext cx="9144000" cy="753571"/>
          </a:xfrm>
        </p:spPr>
        <p:txBody>
          <a:bodyPr anchor="ctr">
            <a:normAutofit/>
          </a:bodyPr>
          <a:lstStyle/>
          <a:p>
            <a:r>
              <a:rPr lang="en-US" sz="3600" b="1" dirty="0">
                <a:effectLst>
                  <a:outerShdw blurRad="38100" dist="38100" dir="2700000" algn="tl">
                    <a:srgbClr val="000000">
                      <a:alpha val="43137"/>
                    </a:srgbClr>
                  </a:outerShdw>
                </a:effectLst>
              </a:rPr>
              <a:t>Tables In Northwind Database </a:t>
            </a:r>
          </a:p>
        </p:txBody>
      </p:sp>
      <p:sp>
        <p:nvSpPr>
          <p:cNvPr id="3" name="Subtitle 2">
            <a:extLst>
              <a:ext uri="{FF2B5EF4-FFF2-40B4-BE49-F238E27FC236}">
                <a16:creationId xmlns:a16="http://schemas.microsoft.com/office/drawing/2014/main" id="{436CC357-FD53-4E28-8234-7FF008EFFFBF}"/>
              </a:ext>
            </a:extLst>
          </p:cNvPr>
          <p:cNvSpPr>
            <a:spLocks noGrp="1"/>
          </p:cNvSpPr>
          <p:nvPr>
            <p:ph type="subTitle" idx="1"/>
          </p:nvPr>
        </p:nvSpPr>
        <p:spPr>
          <a:xfrm>
            <a:off x="1524000" y="1993695"/>
            <a:ext cx="9144000" cy="3656601"/>
          </a:xfrm>
        </p:spPr>
        <p:txBody>
          <a:bodyPr>
            <a:normAutofit/>
          </a:bodyPr>
          <a:lstStyle/>
          <a:p>
            <a:pPr marL="457200" indent="-457200" algn="l">
              <a:buFont typeface="+mj-lt"/>
              <a:buAutoNum type="arabicPeriod"/>
            </a:pPr>
            <a:r>
              <a:rPr lang="en-US" dirty="0"/>
              <a:t>Customers</a:t>
            </a:r>
          </a:p>
          <a:p>
            <a:pPr marL="457200" indent="-457200" algn="l">
              <a:buFont typeface="+mj-lt"/>
              <a:buAutoNum type="arabicPeriod"/>
            </a:pPr>
            <a:r>
              <a:rPr lang="en-US" dirty="0"/>
              <a:t>Orders </a:t>
            </a:r>
          </a:p>
          <a:p>
            <a:pPr marL="457200" indent="-457200" algn="l">
              <a:buFont typeface="+mj-lt"/>
              <a:buAutoNum type="arabicPeriod"/>
            </a:pPr>
            <a:r>
              <a:rPr lang="en-US" dirty="0"/>
              <a:t>Employees </a:t>
            </a:r>
          </a:p>
          <a:p>
            <a:pPr marL="457200" indent="-457200" algn="l">
              <a:buFont typeface="+mj-lt"/>
              <a:buAutoNum type="arabicPeriod"/>
            </a:pPr>
            <a:r>
              <a:rPr lang="en-US" dirty="0"/>
              <a:t>Order Details </a:t>
            </a:r>
          </a:p>
          <a:p>
            <a:pPr marL="457200" indent="-457200" algn="l">
              <a:buFont typeface="+mj-lt"/>
              <a:buAutoNum type="arabicPeriod"/>
            </a:pPr>
            <a:r>
              <a:rPr lang="en-US" dirty="0"/>
              <a:t>Suppliers </a:t>
            </a:r>
          </a:p>
          <a:p>
            <a:pPr marL="457200" indent="-457200" algn="l">
              <a:buFont typeface="+mj-lt"/>
              <a:buAutoNum type="arabicPeriod"/>
            </a:pPr>
            <a:r>
              <a:rPr lang="en-US" dirty="0"/>
              <a:t>Shippers</a:t>
            </a:r>
          </a:p>
          <a:p>
            <a:pPr marL="457200" indent="-457200" algn="l">
              <a:buFont typeface="+mj-lt"/>
              <a:buAutoNum type="arabicPeriod"/>
            </a:pPr>
            <a:r>
              <a:rPr lang="en-US" dirty="0"/>
              <a:t>Products </a:t>
            </a:r>
          </a:p>
          <a:p>
            <a:pPr marL="457200" indent="-457200" algn="l">
              <a:buFont typeface="+mj-lt"/>
              <a:buAutoNum type="arabicPeriod"/>
            </a:pPr>
            <a:r>
              <a:rPr lang="en-US" dirty="0"/>
              <a:t>Categories </a:t>
            </a:r>
          </a:p>
        </p:txBody>
      </p:sp>
      <p:pic>
        <p:nvPicPr>
          <p:cNvPr id="5" name="Picture 2" descr="Learn and Earn via Digital Skills">
            <a:extLst>
              <a:ext uri="{FF2B5EF4-FFF2-40B4-BE49-F238E27FC236}">
                <a16:creationId xmlns:a16="http://schemas.microsoft.com/office/drawing/2014/main" id="{7869C8DC-57EA-48D4-A35A-D1A1D1274F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63391"/>
            <a:ext cx="3864989" cy="6187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24680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2FA06-9924-4E84-84C8-050C17B1A3FD}"/>
              </a:ext>
            </a:extLst>
          </p:cNvPr>
          <p:cNvSpPr>
            <a:spLocks noGrp="1"/>
          </p:cNvSpPr>
          <p:nvPr>
            <p:ph type="title"/>
          </p:nvPr>
        </p:nvSpPr>
        <p:spPr>
          <a:xfrm>
            <a:off x="580321" y="855319"/>
            <a:ext cx="10515600" cy="417300"/>
          </a:xfrm>
        </p:spPr>
        <p:txBody>
          <a:bodyPr>
            <a:noAutofit/>
          </a:bodyPr>
          <a:lstStyle/>
          <a:p>
            <a:pPr algn="ctr"/>
            <a:r>
              <a:rPr lang="en-US" sz="3600" b="1" dirty="0"/>
              <a:t>ERD Diagram (Northwind)</a:t>
            </a:r>
          </a:p>
        </p:txBody>
      </p:sp>
      <p:pic>
        <p:nvPicPr>
          <p:cNvPr id="7" name="Picture 2" descr="Learn and Earn via Digital Skills">
            <a:extLst>
              <a:ext uri="{FF2B5EF4-FFF2-40B4-BE49-F238E27FC236}">
                <a16:creationId xmlns:a16="http://schemas.microsoft.com/office/drawing/2014/main" id="{69DB5E2A-2305-4A86-A4C7-2D2B264F74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63391"/>
            <a:ext cx="3864989" cy="61879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263C3167-F0D3-4CB2-90F3-21FE50DDAE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9691" y="1445748"/>
            <a:ext cx="8587819" cy="5282144"/>
          </a:xfrm>
          <a:prstGeom prst="rect">
            <a:avLst/>
          </a:prstGeom>
        </p:spPr>
      </p:pic>
    </p:spTree>
    <p:extLst>
      <p:ext uri="{BB962C8B-B14F-4D97-AF65-F5344CB8AC3E}">
        <p14:creationId xmlns:p14="http://schemas.microsoft.com/office/powerpoint/2010/main" val="5217472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3B9DF-D445-4009-ABAE-28E8A9127910}"/>
              </a:ext>
            </a:extLst>
          </p:cNvPr>
          <p:cNvSpPr>
            <a:spLocks noGrp="1"/>
          </p:cNvSpPr>
          <p:nvPr>
            <p:ph type="title"/>
          </p:nvPr>
        </p:nvSpPr>
        <p:spPr>
          <a:xfrm>
            <a:off x="1932495" y="1471658"/>
            <a:ext cx="8032423" cy="747237"/>
          </a:xfrm>
        </p:spPr>
        <p:txBody>
          <a:bodyPr>
            <a:normAutofit/>
          </a:bodyPr>
          <a:lstStyle/>
          <a:p>
            <a:pPr algn="ctr"/>
            <a:r>
              <a:rPr lang="en-US" sz="3600" b="1" u="sng" dirty="0"/>
              <a:t>Findings Through MySQL </a:t>
            </a:r>
          </a:p>
        </p:txBody>
      </p:sp>
      <p:sp>
        <p:nvSpPr>
          <p:cNvPr id="3" name="Content Placeholder 2">
            <a:extLst>
              <a:ext uri="{FF2B5EF4-FFF2-40B4-BE49-F238E27FC236}">
                <a16:creationId xmlns:a16="http://schemas.microsoft.com/office/drawing/2014/main" id="{9C7CDEA6-215C-4E1C-A71C-938CE128F724}"/>
              </a:ext>
            </a:extLst>
          </p:cNvPr>
          <p:cNvSpPr>
            <a:spLocks noGrp="1"/>
          </p:cNvSpPr>
          <p:nvPr>
            <p:ph idx="1"/>
          </p:nvPr>
        </p:nvSpPr>
        <p:spPr>
          <a:xfrm>
            <a:off x="807170" y="2600373"/>
            <a:ext cx="10257148" cy="2038733"/>
          </a:xfrm>
        </p:spPr>
        <p:txBody>
          <a:bodyPr>
            <a:normAutofit/>
          </a:bodyPr>
          <a:lstStyle/>
          <a:p>
            <a:r>
              <a:rPr lang="en-US" sz="2000" dirty="0"/>
              <a:t>Sales Performance </a:t>
            </a:r>
          </a:p>
          <a:p>
            <a:r>
              <a:rPr lang="en-US" sz="2000" dirty="0"/>
              <a:t>Customer Segmentation</a:t>
            </a:r>
          </a:p>
          <a:p>
            <a:r>
              <a:rPr lang="en-US" sz="2000" dirty="0"/>
              <a:t>Category and Product revenue</a:t>
            </a:r>
          </a:p>
          <a:p>
            <a:r>
              <a:rPr lang="en-US" sz="2000" dirty="0"/>
              <a:t>Employees / Suppliers/ Shippers Summaries </a:t>
            </a:r>
          </a:p>
          <a:p>
            <a:r>
              <a:rPr lang="en-US" sz="2000" dirty="0"/>
              <a:t>Country wise insights (Geo map)</a:t>
            </a:r>
          </a:p>
        </p:txBody>
      </p:sp>
      <p:pic>
        <p:nvPicPr>
          <p:cNvPr id="5" name="Picture 2" descr="Learn and Earn via Digital Skills">
            <a:extLst>
              <a:ext uri="{FF2B5EF4-FFF2-40B4-BE49-F238E27FC236}">
                <a16:creationId xmlns:a16="http://schemas.microsoft.com/office/drawing/2014/main" id="{06CA9CD6-861E-484D-9B8B-59AA818FCB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63391"/>
            <a:ext cx="3864989" cy="6187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26910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2B41DE1-1DA2-4692-BAC5-AFA618862389}"/>
              </a:ext>
            </a:extLst>
          </p:cNvPr>
          <p:cNvPicPr>
            <a:picLocks noGrp="1" noChangeAspect="1"/>
          </p:cNvPicPr>
          <p:nvPr>
            <p:ph idx="1"/>
          </p:nvPr>
        </p:nvPicPr>
        <p:blipFill>
          <a:blip r:embed="rId2"/>
          <a:stretch>
            <a:fillRect/>
          </a:stretch>
        </p:blipFill>
        <p:spPr>
          <a:xfrm>
            <a:off x="1148992" y="1401212"/>
            <a:ext cx="9675824" cy="3848187"/>
          </a:xfrm>
          <a:prstGeom prst="rect">
            <a:avLst/>
          </a:prstGeom>
        </p:spPr>
      </p:pic>
      <p:sp>
        <p:nvSpPr>
          <p:cNvPr id="3" name="TextBox 2">
            <a:extLst>
              <a:ext uri="{FF2B5EF4-FFF2-40B4-BE49-F238E27FC236}">
                <a16:creationId xmlns:a16="http://schemas.microsoft.com/office/drawing/2014/main" id="{F01A1055-B69A-5F30-744E-EFD4037FECF8}"/>
              </a:ext>
            </a:extLst>
          </p:cNvPr>
          <p:cNvSpPr txBox="1"/>
          <p:nvPr/>
        </p:nvSpPr>
        <p:spPr>
          <a:xfrm>
            <a:off x="2847079" y="853992"/>
            <a:ext cx="5393532" cy="400110"/>
          </a:xfrm>
          <a:prstGeom prst="rect">
            <a:avLst/>
          </a:prstGeom>
          <a:noFill/>
        </p:spPr>
        <p:txBody>
          <a:bodyPr wrap="square" rtlCol="0">
            <a:spAutoFit/>
          </a:bodyPr>
          <a:lstStyle/>
          <a:p>
            <a:pPr algn="ctr"/>
            <a:r>
              <a:rPr lang="en-US" sz="2000" b="1" dirty="0"/>
              <a:t>Revenue by Country</a:t>
            </a:r>
          </a:p>
        </p:txBody>
      </p:sp>
      <p:pic>
        <p:nvPicPr>
          <p:cNvPr id="7" name="Picture 2" descr="Learn and Earn via Digital Skills">
            <a:extLst>
              <a:ext uri="{FF2B5EF4-FFF2-40B4-BE49-F238E27FC236}">
                <a16:creationId xmlns:a16="http://schemas.microsoft.com/office/drawing/2014/main" id="{9BD4B9EA-9B40-4290-9E92-81E4AFAA94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63391"/>
            <a:ext cx="3864989" cy="61879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1">
            <a:extLst>
              <a:ext uri="{FF2B5EF4-FFF2-40B4-BE49-F238E27FC236}">
                <a16:creationId xmlns:a16="http://schemas.microsoft.com/office/drawing/2014/main" id="{6CC8A936-9B26-4CEF-8CA2-24EC1A05E5AA}"/>
              </a:ext>
            </a:extLst>
          </p:cNvPr>
          <p:cNvSpPr>
            <a:spLocks noGrp="1" noChangeArrowheads="1"/>
          </p:cNvSpPr>
          <p:nvPr>
            <p:ph type="title"/>
          </p:nvPr>
        </p:nvSpPr>
        <p:spPr bwMode="auto">
          <a:xfrm>
            <a:off x="1389063" y="5765691"/>
            <a:ext cx="805233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rPr>
              <a:t>USA</a:t>
            </a:r>
            <a:r>
              <a:rPr kumimoji="0" lang="en-US" altLang="en-US" sz="1800" b="0" i="0" u="none" strike="noStrike" cap="none" normalizeH="0" baseline="0" dirty="0">
                <a:ln>
                  <a:noFill/>
                </a:ln>
                <a:solidFill>
                  <a:schemeClr val="tx1"/>
                </a:solidFill>
                <a:effectLst/>
              </a:rPr>
              <a:t> and </a:t>
            </a:r>
            <a:r>
              <a:rPr kumimoji="0" lang="en-US" altLang="en-US" sz="1800" b="1" i="0" u="none" strike="noStrike" cap="none" normalizeH="0" baseline="0" dirty="0">
                <a:ln>
                  <a:noFill/>
                </a:ln>
                <a:solidFill>
                  <a:schemeClr val="tx1"/>
                </a:solidFill>
                <a:effectLst/>
              </a:rPr>
              <a:t>Australia</a:t>
            </a:r>
            <a:r>
              <a:rPr kumimoji="0" lang="en-US" altLang="en-US" sz="1800" b="0" i="0" u="none" strike="noStrike" cap="none" normalizeH="0" baseline="0" dirty="0">
                <a:ln>
                  <a:noFill/>
                </a:ln>
                <a:solidFill>
                  <a:schemeClr val="tx1"/>
                </a:solidFill>
                <a:effectLst/>
              </a:rPr>
              <a:t> contribute the highest revenue, showing strong customer demand.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472454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4F3F6-14B2-4D34-8F9D-0874564E407C}"/>
              </a:ext>
            </a:extLst>
          </p:cNvPr>
          <p:cNvSpPr>
            <a:spLocks noGrp="1"/>
          </p:cNvSpPr>
          <p:nvPr>
            <p:ph type="title"/>
          </p:nvPr>
        </p:nvSpPr>
        <p:spPr>
          <a:xfrm>
            <a:off x="1574276" y="5420413"/>
            <a:ext cx="7899993" cy="537328"/>
          </a:xfrm>
        </p:spPr>
        <p:txBody>
          <a:bodyPr>
            <a:normAutofit/>
          </a:bodyPr>
          <a:lstStyle/>
          <a:p>
            <a:pPr marL="342900" indent="-342900">
              <a:buFont typeface="Arial" panose="020B0604020202020204" pitchFamily="34" charset="0"/>
              <a:buChar char="•"/>
            </a:pPr>
            <a:r>
              <a:rPr lang="en-US" sz="1800" dirty="0"/>
              <a:t>USA leads significantly, with Australia and Canada following closely.</a:t>
            </a:r>
            <a:endParaRPr lang="en-US" sz="1800" dirty="0">
              <a:latin typeface="+mn-lt"/>
            </a:endParaRPr>
          </a:p>
        </p:txBody>
      </p:sp>
      <p:pic>
        <p:nvPicPr>
          <p:cNvPr id="4" name="Picture 3">
            <a:extLst>
              <a:ext uri="{FF2B5EF4-FFF2-40B4-BE49-F238E27FC236}">
                <a16:creationId xmlns:a16="http://schemas.microsoft.com/office/drawing/2014/main" id="{9688A734-6E88-47DD-B7B4-8940B07557C4}"/>
              </a:ext>
            </a:extLst>
          </p:cNvPr>
          <p:cNvPicPr>
            <a:picLocks noChangeAspect="1"/>
          </p:cNvPicPr>
          <p:nvPr/>
        </p:nvPicPr>
        <p:blipFill>
          <a:blip r:embed="rId2"/>
          <a:stretch>
            <a:fillRect/>
          </a:stretch>
        </p:blipFill>
        <p:spPr>
          <a:xfrm>
            <a:off x="1602065" y="1954924"/>
            <a:ext cx="7970560" cy="3474326"/>
          </a:xfrm>
          <a:prstGeom prst="rect">
            <a:avLst/>
          </a:prstGeom>
        </p:spPr>
      </p:pic>
      <p:sp>
        <p:nvSpPr>
          <p:cNvPr id="6" name="TextBox 5"/>
          <p:cNvSpPr txBox="1"/>
          <p:nvPr/>
        </p:nvSpPr>
        <p:spPr>
          <a:xfrm>
            <a:off x="2073898" y="1228695"/>
            <a:ext cx="6740164" cy="400110"/>
          </a:xfrm>
          <a:prstGeom prst="rect">
            <a:avLst/>
          </a:prstGeom>
          <a:noFill/>
        </p:spPr>
        <p:txBody>
          <a:bodyPr wrap="square" rtlCol="0">
            <a:spAutoFit/>
          </a:bodyPr>
          <a:lstStyle/>
          <a:p>
            <a:pPr algn="ctr"/>
            <a:r>
              <a:rPr lang="en-US" sz="2000" b="1" dirty="0"/>
              <a:t>Top 5 Revenue-Generating Countries</a:t>
            </a:r>
          </a:p>
        </p:txBody>
      </p:sp>
      <p:pic>
        <p:nvPicPr>
          <p:cNvPr id="7" name="Picture 2" descr="Learn and Earn via Digital Skills">
            <a:extLst>
              <a:ext uri="{FF2B5EF4-FFF2-40B4-BE49-F238E27FC236}">
                <a16:creationId xmlns:a16="http://schemas.microsoft.com/office/drawing/2014/main" id="{14BDE60C-813F-468C-A46C-96B86CB607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72817"/>
            <a:ext cx="3864989" cy="61879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5F3811E-AFA2-4D5B-8A9D-2E53E11423D7}"/>
              </a:ext>
            </a:extLst>
          </p:cNvPr>
          <p:cNvSpPr txBox="1"/>
          <p:nvPr/>
        </p:nvSpPr>
        <p:spPr>
          <a:xfrm>
            <a:off x="1607189" y="5895937"/>
            <a:ext cx="7834166" cy="92333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These countries should be the top priority regions for targeted marketing and resource allocation.</a:t>
            </a:r>
            <a:br>
              <a:rPr lang="en-US" dirty="0">
                <a:latin typeface="+mj-lt"/>
              </a:rPr>
            </a:br>
            <a:endParaRPr lang="en-US" dirty="0">
              <a:latin typeface="+mj-lt"/>
            </a:endParaRPr>
          </a:p>
        </p:txBody>
      </p:sp>
    </p:spTree>
    <p:extLst>
      <p:ext uri="{BB962C8B-B14F-4D97-AF65-F5344CB8AC3E}">
        <p14:creationId xmlns:p14="http://schemas.microsoft.com/office/powerpoint/2010/main" val="2805309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3CB35-A6D5-43CD-9D9F-731F1E9C2FA2}"/>
              </a:ext>
            </a:extLst>
          </p:cNvPr>
          <p:cNvSpPr>
            <a:spLocks noGrp="1"/>
          </p:cNvSpPr>
          <p:nvPr>
            <p:ph type="title"/>
          </p:nvPr>
        </p:nvSpPr>
        <p:spPr>
          <a:xfrm>
            <a:off x="838200" y="5608948"/>
            <a:ext cx="10332563" cy="988516"/>
          </a:xfrm>
        </p:spPr>
        <p:txBody>
          <a:bodyPr>
            <a:normAutofit/>
          </a:bodyPr>
          <a:lstStyle/>
          <a:p>
            <a:r>
              <a:rPr lang="en-US" sz="2000" dirty="0">
                <a:latin typeface="+mn-lt"/>
              </a:rPr>
              <a:t>January–February 1997 continue upward before slight decline.</a:t>
            </a:r>
            <a:br>
              <a:rPr lang="en-US" sz="2000" dirty="0">
                <a:latin typeface="+mn-lt"/>
              </a:rPr>
            </a:br>
            <a:r>
              <a:rPr lang="en-US" sz="2000" dirty="0">
                <a:latin typeface="+mn-lt"/>
              </a:rPr>
              <a:t>Reveals seasonal buying behavior and sales consistency.</a:t>
            </a:r>
          </a:p>
        </p:txBody>
      </p:sp>
      <p:sp>
        <p:nvSpPr>
          <p:cNvPr id="13" name="Title 1">
            <a:extLst>
              <a:ext uri="{FF2B5EF4-FFF2-40B4-BE49-F238E27FC236}">
                <a16:creationId xmlns:a16="http://schemas.microsoft.com/office/drawing/2014/main" id="{530164F1-0555-BF20-CFF7-ECD21F9D4E54}"/>
              </a:ext>
            </a:extLst>
          </p:cNvPr>
          <p:cNvSpPr txBox="1">
            <a:spLocks/>
          </p:cNvSpPr>
          <p:nvPr/>
        </p:nvSpPr>
        <p:spPr>
          <a:xfrm>
            <a:off x="3949044" y="966246"/>
            <a:ext cx="2904243" cy="5422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dirty="0"/>
              <a:t>Monthly Revenue Trends</a:t>
            </a:r>
          </a:p>
        </p:txBody>
      </p:sp>
      <p:pic>
        <p:nvPicPr>
          <p:cNvPr id="6" name="Picture 2" descr="Learn and Earn via Digital Skills">
            <a:extLst>
              <a:ext uri="{FF2B5EF4-FFF2-40B4-BE49-F238E27FC236}">
                <a16:creationId xmlns:a16="http://schemas.microsoft.com/office/drawing/2014/main" id="{75919269-8B1F-4FA7-9E41-052E1CE9BA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72817"/>
            <a:ext cx="3864989" cy="61879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B0DB6CFA-F732-4757-9DFE-9641BFA61EE0}"/>
              </a:ext>
            </a:extLst>
          </p:cNvPr>
          <p:cNvPicPr>
            <a:picLocks noChangeAspect="1"/>
          </p:cNvPicPr>
          <p:nvPr/>
        </p:nvPicPr>
        <p:blipFill>
          <a:blip r:embed="rId3"/>
          <a:stretch>
            <a:fillRect/>
          </a:stretch>
        </p:blipFill>
        <p:spPr>
          <a:xfrm>
            <a:off x="744718" y="1639113"/>
            <a:ext cx="10143241" cy="3754444"/>
          </a:xfrm>
          <a:prstGeom prst="rect">
            <a:avLst/>
          </a:prstGeom>
        </p:spPr>
      </p:pic>
    </p:spTree>
    <p:extLst>
      <p:ext uri="{BB962C8B-B14F-4D97-AF65-F5344CB8AC3E}">
        <p14:creationId xmlns:p14="http://schemas.microsoft.com/office/powerpoint/2010/main" val="22531671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EABA137-FEF5-48A7-A1DE-C5C5AB7A9C71}"/>
              </a:ext>
            </a:extLst>
          </p:cNvPr>
          <p:cNvPicPr>
            <a:picLocks noChangeAspect="1"/>
          </p:cNvPicPr>
          <p:nvPr/>
        </p:nvPicPr>
        <p:blipFill>
          <a:blip r:embed="rId2"/>
          <a:stretch>
            <a:fillRect/>
          </a:stretch>
        </p:blipFill>
        <p:spPr>
          <a:xfrm>
            <a:off x="867968" y="1429364"/>
            <a:ext cx="10243566" cy="3999272"/>
          </a:xfrm>
          <a:prstGeom prst="rect">
            <a:avLst/>
          </a:prstGeom>
        </p:spPr>
      </p:pic>
      <p:sp>
        <p:nvSpPr>
          <p:cNvPr id="5" name="TextBox 4">
            <a:extLst>
              <a:ext uri="{FF2B5EF4-FFF2-40B4-BE49-F238E27FC236}">
                <a16:creationId xmlns:a16="http://schemas.microsoft.com/office/drawing/2014/main" id="{242869EE-F2E6-FCE0-AC8E-05461F78E629}"/>
              </a:ext>
            </a:extLst>
          </p:cNvPr>
          <p:cNvSpPr txBox="1"/>
          <p:nvPr/>
        </p:nvSpPr>
        <p:spPr>
          <a:xfrm>
            <a:off x="1343074" y="5428636"/>
            <a:ext cx="9648579" cy="1200329"/>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Beverages and Dairy Products generate the highest sales, emerging as top-performing categories.</a:t>
            </a:r>
          </a:p>
          <a:p>
            <a:pPr marL="285750" indent="-285750">
              <a:buFont typeface="Arial" panose="020B0604020202020204" pitchFamily="34" charset="0"/>
              <a:buChar char="•"/>
            </a:pPr>
            <a:r>
              <a:rPr lang="en-US" dirty="0">
                <a:latin typeface="+mj-lt"/>
              </a:rPr>
              <a:t>Condiments, Meat/ Poultry and Confections show moderate revenue, suggesting reliable performance.</a:t>
            </a:r>
          </a:p>
          <a:p>
            <a:pPr marL="285750" indent="-285750">
              <a:buFont typeface="Arial" panose="020B0604020202020204" pitchFamily="34" charset="0"/>
              <a:buChar char="•"/>
            </a:pPr>
            <a:r>
              <a:rPr lang="en-US" dirty="0">
                <a:latin typeface="+mj-lt"/>
              </a:rPr>
              <a:t>Helps pinpoint categories that deserve priority in inventory and marketing.</a:t>
            </a:r>
          </a:p>
        </p:txBody>
      </p:sp>
      <p:pic>
        <p:nvPicPr>
          <p:cNvPr id="7" name="Picture 2" descr="Learn and Earn via Digital Skills">
            <a:extLst>
              <a:ext uri="{FF2B5EF4-FFF2-40B4-BE49-F238E27FC236}">
                <a16:creationId xmlns:a16="http://schemas.microsoft.com/office/drawing/2014/main" id="{058EA1A3-358C-D5ED-CD5A-A3F6CF1BA8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72817"/>
            <a:ext cx="3864989" cy="61879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3864990" y="901300"/>
            <a:ext cx="3615504" cy="400110"/>
          </a:xfrm>
          <a:prstGeom prst="rect">
            <a:avLst/>
          </a:prstGeom>
          <a:noFill/>
        </p:spPr>
        <p:txBody>
          <a:bodyPr wrap="square" rtlCol="0">
            <a:spAutoFit/>
          </a:bodyPr>
          <a:lstStyle/>
          <a:p>
            <a:pPr algn="ctr"/>
            <a:r>
              <a:rPr lang="en-US" sz="2000" b="1" dirty="0"/>
              <a:t>Revenue by Product Category</a:t>
            </a:r>
          </a:p>
        </p:txBody>
      </p:sp>
    </p:spTree>
    <p:extLst>
      <p:ext uri="{BB962C8B-B14F-4D97-AF65-F5344CB8AC3E}">
        <p14:creationId xmlns:p14="http://schemas.microsoft.com/office/powerpoint/2010/main" val="15690133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7C364F-F5B0-452B-8742-BA9065A1589A}"/>
              </a:ext>
            </a:extLst>
          </p:cNvPr>
          <p:cNvPicPr>
            <a:picLocks noChangeAspect="1"/>
          </p:cNvPicPr>
          <p:nvPr/>
        </p:nvPicPr>
        <p:blipFill>
          <a:blip r:embed="rId2"/>
          <a:stretch>
            <a:fillRect/>
          </a:stretch>
        </p:blipFill>
        <p:spPr>
          <a:xfrm>
            <a:off x="931546" y="1866507"/>
            <a:ext cx="9183598" cy="3265291"/>
          </a:xfrm>
          <a:prstGeom prst="rect">
            <a:avLst/>
          </a:prstGeom>
        </p:spPr>
      </p:pic>
      <p:sp>
        <p:nvSpPr>
          <p:cNvPr id="11" name="TextBox 10">
            <a:extLst>
              <a:ext uri="{FF2B5EF4-FFF2-40B4-BE49-F238E27FC236}">
                <a16:creationId xmlns:a16="http://schemas.microsoft.com/office/drawing/2014/main" id="{227BC93A-BE9B-6E8C-F91B-98BEB7EFD088}"/>
              </a:ext>
            </a:extLst>
          </p:cNvPr>
          <p:cNvSpPr txBox="1"/>
          <p:nvPr/>
        </p:nvSpPr>
        <p:spPr>
          <a:xfrm>
            <a:off x="3654134" y="1396740"/>
            <a:ext cx="3887988" cy="369332"/>
          </a:xfrm>
          <a:prstGeom prst="rect">
            <a:avLst/>
          </a:prstGeom>
          <a:noFill/>
        </p:spPr>
        <p:txBody>
          <a:bodyPr wrap="square" rtlCol="0">
            <a:spAutoFit/>
          </a:bodyPr>
          <a:lstStyle/>
          <a:p>
            <a:r>
              <a:rPr lang="en-US" b="1" dirty="0"/>
              <a:t>Product and Category-wise Revenue</a:t>
            </a:r>
          </a:p>
        </p:txBody>
      </p:sp>
      <p:sp>
        <p:nvSpPr>
          <p:cNvPr id="13" name="TextBox 12">
            <a:extLst>
              <a:ext uri="{FF2B5EF4-FFF2-40B4-BE49-F238E27FC236}">
                <a16:creationId xmlns:a16="http://schemas.microsoft.com/office/drawing/2014/main" id="{40719E19-9EAA-A14A-1821-357ED82D672D}"/>
              </a:ext>
            </a:extLst>
          </p:cNvPr>
          <p:cNvSpPr txBox="1"/>
          <p:nvPr/>
        </p:nvSpPr>
        <p:spPr>
          <a:xfrm>
            <a:off x="2311300" y="5029200"/>
            <a:ext cx="1828800" cy="1828800"/>
          </a:xfrm>
          <a:prstGeom prst="rect">
            <a:avLst/>
          </a:prstGeom>
          <a:noFill/>
        </p:spPr>
        <p:txBody>
          <a:bodyPr wrap="square" rtlCol="0">
            <a:spAutoFit/>
          </a:bodyPr>
          <a:lstStyle/>
          <a:p>
            <a:pPr algn="l"/>
            <a:endParaRPr lang="en-US" dirty="0"/>
          </a:p>
        </p:txBody>
      </p:sp>
      <p:sp>
        <p:nvSpPr>
          <p:cNvPr id="3" name="TextBox 2">
            <a:extLst>
              <a:ext uri="{FF2B5EF4-FFF2-40B4-BE49-F238E27FC236}">
                <a16:creationId xmlns:a16="http://schemas.microsoft.com/office/drawing/2014/main" id="{E474EC41-2D06-4D0D-8BF0-2224D0E18372}"/>
              </a:ext>
            </a:extLst>
          </p:cNvPr>
          <p:cNvSpPr txBox="1"/>
          <p:nvPr/>
        </p:nvSpPr>
        <p:spPr>
          <a:xfrm>
            <a:off x="1073133" y="5302331"/>
            <a:ext cx="8900425" cy="923330"/>
          </a:xfrm>
          <a:prstGeom prst="rect">
            <a:avLst/>
          </a:prstGeom>
          <a:noFill/>
        </p:spPr>
        <p:txBody>
          <a:bodyPr wrap="square" rtlCol="0">
            <a:spAutoFit/>
          </a:bodyPr>
          <a:lstStyle/>
          <a:p>
            <a:r>
              <a:rPr lang="en-US" dirty="0"/>
              <a:t>Products like </a:t>
            </a:r>
            <a:r>
              <a:rPr lang="en-US" b="1" dirty="0"/>
              <a:t>Côte de </a:t>
            </a:r>
            <a:r>
              <a:rPr lang="en-US" b="1" dirty="0" err="1"/>
              <a:t>Blaye</a:t>
            </a:r>
            <a:r>
              <a:rPr lang="en-US" dirty="0"/>
              <a:t> and </a:t>
            </a:r>
            <a:r>
              <a:rPr lang="en-US" b="1" dirty="0"/>
              <a:t>Chef Anton’s Cajun Seasoning</a:t>
            </a:r>
            <a:r>
              <a:rPr lang="en-US" dirty="0"/>
              <a:t> lead their categories.</a:t>
            </a:r>
            <a:br>
              <a:rPr lang="en-US" dirty="0"/>
            </a:br>
            <a:r>
              <a:rPr lang="en-US" dirty="0"/>
              <a:t>Low-selling products highlight </a:t>
            </a:r>
            <a:r>
              <a:rPr lang="en-US" b="1" dirty="0"/>
              <a:t>potential for improvement or replacement</a:t>
            </a:r>
            <a:r>
              <a:rPr lang="en-US" dirty="0"/>
              <a:t>.</a:t>
            </a:r>
            <a:br>
              <a:rPr lang="en-US" dirty="0"/>
            </a:br>
            <a:r>
              <a:rPr lang="en-US" dirty="0"/>
              <a:t>This analysis supports </a:t>
            </a:r>
            <a:r>
              <a:rPr lang="en-US" b="1" dirty="0"/>
              <a:t>data-driven product management decisions</a:t>
            </a:r>
            <a:r>
              <a:rPr lang="en-US" dirty="0"/>
              <a:t>.</a:t>
            </a:r>
          </a:p>
        </p:txBody>
      </p:sp>
      <p:pic>
        <p:nvPicPr>
          <p:cNvPr id="9" name="Picture 2" descr="Learn and Earn via Digital Skills">
            <a:extLst>
              <a:ext uri="{FF2B5EF4-FFF2-40B4-BE49-F238E27FC236}">
                <a16:creationId xmlns:a16="http://schemas.microsoft.com/office/drawing/2014/main" id="{462D3FC8-0804-4202-BF06-2D5D0EB77B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72817"/>
            <a:ext cx="3864989" cy="6187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31235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57A3EFF-48DC-475E-842C-75B1E0ED3509}"/>
              </a:ext>
            </a:extLst>
          </p:cNvPr>
          <p:cNvPicPr>
            <a:picLocks noChangeAspect="1"/>
          </p:cNvPicPr>
          <p:nvPr/>
        </p:nvPicPr>
        <p:blipFill>
          <a:blip r:embed="rId2"/>
          <a:stretch>
            <a:fillRect/>
          </a:stretch>
        </p:blipFill>
        <p:spPr>
          <a:xfrm>
            <a:off x="766579" y="1763607"/>
            <a:ext cx="4512431" cy="2772398"/>
          </a:xfrm>
          <a:prstGeom prst="rect">
            <a:avLst/>
          </a:prstGeom>
        </p:spPr>
      </p:pic>
      <p:pic>
        <p:nvPicPr>
          <p:cNvPr id="3" name="Picture 2">
            <a:extLst>
              <a:ext uri="{FF2B5EF4-FFF2-40B4-BE49-F238E27FC236}">
                <a16:creationId xmlns:a16="http://schemas.microsoft.com/office/drawing/2014/main" id="{6EC77C37-25A2-4153-A8DD-2C354B0CA697}"/>
              </a:ext>
            </a:extLst>
          </p:cNvPr>
          <p:cNvPicPr>
            <a:picLocks noChangeAspect="1"/>
          </p:cNvPicPr>
          <p:nvPr/>
        </p:nvPicPr>
        <p:blipFill>
          <a:blip r:embed="rId3"/>
          <a:stretch>
            <a:fillRect/>
          </a:stretch>
        </p:blipFill>
        <p:spPr>
          <a:xfrm>
            <a:off x="5819346" y="1005213"/>
            <a:ext cx="5841611" cy="4515290"/>
          </a:xfrm>
          <a:prstGeom prst="rect">
            <a:avLst/>
          </a:prstGeom>
        </p:spPr>
      </p:pic>
      <p:sp>
        <p:nvSpPr>
          <p:cNvPr id="6" name="TextBox 5">
            <a:extLst>
              <a:ext uri="{FF2B5EF4-FFF2-40B4-BE49-F238E27FC236}">
                <a16:creationId xmlns:a16="http://schemas.microsoft.com/office/drawing/2014/main" id="{6F394AE5-EED6-4024-8C48-B347BFCC7A10}"/>
              </a:ext>
            </a:extLst>
          </p:cNvPr>
          <p:cNvSpPr txBox="1"/>
          <p:nvPr/>
        </p:nvSpPr>
        <p:spPr>
          <a:xfrm>
            <a:off x="7371760" y="691616"/>
            <a:ext cx="2912882" cy="369332"/>
          </a:xfrm>
          <a:prstGeom prst="rect">
            <a:avLst/>
          </a:prstGeom>
          <a:noFill/>
        </p:spPr>
        <p:txBody>
          <a:bodyPr wrap="square" rtlCol="0">
            <a:spAutoFit/>
          </a:bodyPr>
          <a:lstStyle/>
          <a:p>
            <a:r>
              <a:rPr lang="en-US" b="1" dirty="0"/>
              <a:t>Customer RFM Results </a:t>
            </a:r>
          </a:p>
        </p:txBody>
      </p:sp>
      <p:sp>
        <p:nvSpPr>
          <p:cNvPr id="7" name="TextBox 6">
            <a:extLst>
              <a:ext uri="{FF2B5EF4-FFF2-40B4-BE49-F238E27FC236}">
                <a16:creationId xmlns:a16="http://schemas.microsoft.com/office/drawing/2014/main" id="{150A5103-0089-4EE6-A317-B14DFF1D63E3}"/>
              </a:ext>
            </a:extLst>
          </p:cNvPr>
          <p:cNvSpPr txBox="1"/>
          <p:nvPr/>
        </p:nvSpPr>
        <p:spPr>
          <a:xfrm>
            <a:off x="1366887" y="1005213"/>
            <a:ext cx="3453353" cy="369332"/>
          </a:xfrm>
          <a:prstGeom prst="rect">
            <a:avLst/>
          </a:prstGeom>
          <a:noFill/>
        </p:spPr>
        <p:txBody>
          <a:bodyPr wrap="square" rtlCol="0">
            <a:spAutoFit/>
          </a:bodyPr>
          <a:lstStyle/>
          <a:p>
            <a:pPr algn="ctr"/>
            <a:r>
              <a:rPr lang="en-US" b="1" dirty="0"/>
              <a:t>Customer Segmentation Insights</a:t>
            </a:r>
          </a:p>
        </p:txBody>
      </p:sp>
      <p:sp>
        <p:nvSpPr>
          <p:cNvPr id="8" name="TextBox 7">
            <a:extLst>
              <a:ext uri="{FF2B5EF4-FFF2-40B4-BE49-F238E27FC236}">
                <a16:creationId xmlns:a16="http://schemas.microsoft.com/office/drawing/2014/main" id="{FC93F5A3-35A0-47D9-A31A-CB04DD1E6F79}"/>
              </a:ext>
            </a:extLst>
          </p:cNvPr>
          <p:cNvSpPr txBox="1"/>
          <p:nvPr/>
        </p:nvSpPr>
        <p:spPr>
          <a:xfrm>
            <a:off x="190039" y="4837871"/>
            <a:ext cx="5265487" cy="1477328"/>
          </a:xfrm>
          <a:prstGeom prst="rect">
            <a:avLst/>
          </a:prstGeom>
          <a:noFill/>
        </p:spPr>
        <p:txBody>
          <a:bodyPr wrap="square" rtlCol="0">
            <a:spAutoFit/>
          </a:bodyPr>
          <a:lstStyle/>
          <a:p>
            <a:pPr marL="285750" lvl="0" indent="-285750">
              <a:buFont typeface="Arial" panose="020B0604020202020204" pitchFamily="34" charset="0"/>
              <a:buChar char="•"/>
            </a:pPr>
            <a:r>
              <a:rPr lang="en-US" b="1" dirty="0">
                <a:latin typeface="+mj-lt"/>
              </a:rPr>
              <a:t>High-RFM customers are highly loyal and contribute strong revenue.</a:t>
            </a:r>
            <a:endParaRPr lang="en-US" dirty="0">
              <a:latin typeface="+mj-lt"/>
            </a:endParaRPr>
          </a:p>
          <a:p>
            <a:pPr marL="285750" lvl="0" indent="-285750">
              <a:buFont typeface="Arial" panose="020B0604020202020204" pitchFamily="34" charset="0"/>
              <a:buChar char="•"/>
            </a:pPr>
            <a:r>
              <a:rPr lang="en-US" b="1" dirty="0">
                <a:latin typeface="+mj-lt"/>
              </a:rPr>
              <a:t>Mid-RFM customers need engagement to boost repeat purchases, while low-RFM customers are close to churn and require reactivation.</a:t>
            </a:r>
            <a:endParaRPr lang="en-US" dirty="0">
              <a:latin typeface="+mj-lt"/>
            </a:endParaRPr>
          </a:p>
        </p:txBody>
      </p:sp>
      <p:pic>
        <p:nvPicPr>
          <p:cNvPr id="9" name="Picture 2" descr="Learn and Earn via Digital Skills">
            <a:extLst>
              <a:ext uri="{FF2B5EF4-FFF2-40B4-BE49-F238E27FC236}">
                <a16:creationId xmlns:a16="http://schemas.microsoft.com/office/drawing/2014/main" id="{55AA954D-A9B1-4726-8F83-8D1CD84D81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72817"/>
            <a:ext cx="3864989" cy="61879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3036D1C-2F37-43C0-91D9-362DDAF56431}"/>
              </a:ext>
            </a:extLst>
          </p:cNvPr>
          <p:cNvSpPr txBox="1"/>
          <p:nvPr/>
        </p:nvSpPr>
        <p:spPr>
          <a:xfrm>
            <a:off x="5589893" y="5103674"/>
            <a:ext cx="6434884" cy="1754326"/>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Customers like </a:t>
            </a:r>
            <a:r>
              <a:rPr lang="en-US" b="1" dirty="0">
                <a:latin typeface="+mj-lt"/>
              </a:rPr>
              <a:t>Ronald Mendel</a:t>
            </a:r>
            <a:r>
              <a:rPr lang="en-US" dirty="0">
                <a:latin typeface="+mj-lt"/>
              </a:rPr>
              <a:t> and others consistently place orders and drive high revenue.</a:t>
            </a:r>
          </a:p>
          <a:p>
            <a:pPr marL="285750" indent="-285750">
              <a:buFont typeface="Arial" panose="020B0604020202020204" pitchFamily="34" charset="0"/>
              <a:buChar char="•"/>
            </a:pPr>
            <a:r>
              <a:rPr lang="en-US" dirty="0">
                <a:latin typeface="+mj-lt"/>
              </a:rPr>
              <a:t>Their high RFM scores show </a:t>
            </a:r>
            <a:r>
              <a:rPr lang="en-US" b="1" dirty="0">
                <a:latin typeface="+mj-lt"/>
              </a:rPr>
              <a:t>strong loyalty</a:t>
            </a:r>
            <a:r>
              <a:rPr lang="en-US" dirty="0">
                <a:latin typeface="+mj-lt"/>
              </a:rPr>
              <a:t> and repeat buying behavior.</a:t>
            </a:r>
          </a:p>
          <a:p>
            <a:pPr marL="285750" indent="-285750">
              <a:buFont typeface="Arial" panose="020B0604020202020204" pitchFamily="34" charset="0"/>
              <a:buChar char="•"/>
            </a:pPr>
            <a:r>
              <a:rPr lang="en-US" dirty="0">
                <a:latin typeface="+mj-lt"/>
              </a:rPr>
              <a:t>These customers are ideal for </a:t>
            </a:r>
            <a:r>
              <a:rPr lang="en-US" b="1" dirty="0">
                <a:latin typeface="+mj-lt"/>
              </a:rPr>
              <a:t>premium offers</a:t>
            </a:r>
            <a:r>
              <a:rPr lang="en-US" dirty="0">
                <a:latin typeface="+mj-lt"/>
              </a:rPr>
              <a:t>, loyalty programs, and long-term relationship building.</a:t>
            </a:r>
          </a:p>
        </p:txBody>
      </p:sp>
    </p:spTree>
    <p:extLst>
      <p:ext uri="{BB962C8B-B14F-4D97-AF65-F5344CB8AC3E}">
        <p14:creationId xmlns:p14="http://schemas.microsoft.com/office/powerpoint/2010/main" val="42794523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8F942BC-9C4D-4FF2-8CB5-05147271E209}"/>
              </a:ext>
            </a:extLst>
          </p:cNvPr>
          <p:cNvPicPr>
            <a:picLocks noChangeAspect="1"/>
          </p:cNvPicPr>
          <p:nvPr/>
        </p:nvPicPr>
        <p:blipFill>
          <a:blip r:embed="rId2"/>
          <a:stretch>
            <a:fillRect/>
          </a:stretch>
        </p:blipFill>
        <p:spPr>
          <a:xfrm>
            <a:off x="6361031" y="813062"/>
            <a:ext cx="5276850" cy="5715000"/>
          </a:xfrm>
          <a:prstGeom prst="rect">
            <a:avLst/>
          </a:prstGeom>
        </p:spPr>
      </p:pic>
      <p:sp>
        <p:nvSpPr>
          <p:cNvPr id="3" name="TextBox 2">
            <a:extLst>
              <a:ext uri="{FF2B5EF4-FFF2-40B4-BE49-F238E27FC236}">
                <a16:creationId xmlns:a16="http://schemas.microsoft.com/office/drawing/2014/main" id="{AF12B9F2-BF9E-4C28-9A99-293E9493C04C}"/>
              </a:ext>
            </a:extLst>
          </p:cNvPr>
          <p:cNvSpPr txBox="1"/>
          <p:nvPr/>
        </p:nvSpPr>
        <p:spPr>
          <a:xfrm>
            <a:off x="7230358" y="892011"/>
            <a:ext cx="3827283" cy="369332"/>
          </a:xfrm>
          <a:prstGeom prst="rect">
            <a:avLst/>
          </a:prstGeom>
          <a:noFill/>
        </p:spPr>
        <p:txBody>
          <a:bodyPr wrap="square" rtlCol="0">
            <a:spAutoFit/>
          </a:bodyPr>
          <a:lstStyle/>
          <a:p>
            <a:pPr algn="ctr"/>
            <a:r>
              <a:rPr lang="en-US" b="1" dirty="0"/>
              <a:t>Top 5 Loyal  Customers</a:t>
            </a:r>
          </a:p>
        </p:txBody>
      </p:sp>
      <p:sp>
        <p:nvSpPr>
          <p:cNvPr id="4" name="TextBox 3">
            <a:extLst>
              <a:ext uri="{FF2B5EF4-FFF2-40B4-BE49-F238E27FC236}">
                <a16:creationId xmlns:a16="http://schemas.microsoft.com/office/drawing/2014/main" id="{A4F56CF3-4566-48BC-9095-31AA7CD4CE84}"/>
              </a:ext>
            </a:extLst>
          </p:cNvPr>
          <p:cNvSpPr txBox="1"/>
          <p:nvPr/>
        </p:nvSpPr>
        <p:spPr>
          <a:xfrm>
            <a:off x="160257" y="2771481"/>
            <a:ext cx="5991544" cy="1754326"/>
          </a:xfrm>
          <a:prstGeom prst="rect">
            <a:avLst/>
          </a:prstGeom>
          <a:noFill/>
        </p:spPr>
        <p:txBody>
          <a:bodyPr wrap="square" rtlCol="0">
            <a:spAutoFit/>
          </a:bodyPr>
          <a:lstStyle/>
          <a:p>
            <a:pPr marL="285750" indent="-285750">
              <a:buFont typeface="Arial" panose="020B0604020202020204" pitchFamily="34" charset="0"/>
              <a:buChar char="•"/>
            </a:pPr>
            <a:r>
              <a:rPr lang="en-US" dirty="0"/>
              <a:t>Top customers like </a:t>
            </a:r>
            <a:r>
              <a:rPr lang="en-US" b="1" dirty="0"/>
              <a:t>Ronald Mendel</a:t>
            </a:r>
            <a:r>
              <a:rPr lang="en-US" dirty="0"/>
              <a:t> and </a:t>
            </a:r>
            <a:r>
              <a:rPr lang="en-US" b="1" dirty="0"/>
              <a:t>Jean </a:t>
            </a:r>
            <a:r>
              <a:rPr lang="en-US" b="1" dirty="0" err="1"/>
              <a:t>Freniere</a:t>
            </a:r>
            <a:r>
              <a:rPr lang="en-US" b="1" dirty="0"/>
              <a:t> </a:t>
            </a:r>
            <a:r>
              <a:rPr lang="en-US" dirty="0"/>
              <a:t>dominate revenue contribution.</a:t>
            </a:r>
          </a:p>
          <a:p>
            <a:pPr marL="285750" indent="-285750">
              <a:buFont typeface="Arial" panose="020B0604020202020204" pitchFamily="34" charset="0"/>
              <a:buChar char="•"/>
            </a:pPr>
            <a:r>
              <a:rPr lang="en-US" dirty="0"/>
              <a:t>Their consistent orders reflect </a:t>
            </a:r>
            <a:r>
              <a:rPr lang="en-US" b="1" dirty="0"/>
              <a:t>strong business relationships</a:t>
            </a:r>
            <a:r>
              <a:rPr lang="en-US" dirty="0"/>
              <a:t>.</a:t>
            </a:r>
          </a:p>
          <a:p>
            <a:pPr marL="285750" indent="-285750">
              <a:buFont typeface="Arial" panose="020B0604020202020204" pitchFamily="34" charset="0"/>
              <a:buChar char="•"/>
            </a:pPr>
            <a:r>
              <a:rPr lang="en-US" dirty="0"/>
              <a:t>They’re key for </a:t>
            </a:r>
            <a:r>
              <a:rPr lang="en-US" b="1" dirty="0"/>
              <a:t>personalized offers and long-term loyalty building</a:t>
            </a:r>
            <a:r>
              <a:rPr lang="en-US" dirty="0"/>
              <a:t>.</a:t>
            </a:r>
          </a:p>
        </p:txBody>
      </p:sp>
      <p:sp>
        <p:nvSpPr>
          <p:cNvPr id="5" name="TextBox 4">
            <a:extLst>
              <a:ext uri="{FF2B5EF4-FFF2-40B4-BE49-F238E27FC236}">
                <a16:creationId xmlns:a16="http://schemas.microsoft.com/office/drawing/2014/main" id="{B15CC59B-0CA0-461D-AADE-E72193C02466}"/>
              </a:ext>
            </a:extLst>
          </p:cNvPr>
          <p:cNvSpPr txBox="1"/>
          <p:nvPr/>
        </p:nvSpPr>
        <p:spPr>
          <a:xfrm>
            <a:off x="1423446" y="2015568"/>
            <a:ext cx="3827283" cy="369332"/>
          </a:xfrm>
          <a:prstGeom prst="rect">
            <a:avLst/>
          </a:prstGeom>
          <a:noFill/>
        </p:spPr>
        <p:txBody>
          <a:bodyPr wrap="square" rtlCol="0">
            <a:spAutoFit/>
          </a:bodyPr>
          <a:lstStyle/>
          <a:p>
            <a:pPr algn="ctr"/>
            <a:r>
              <a:rPr lang="en-US" b="1" dirty="0"/>
              <a:t>Top 5 Loyal  Customers</a:t>
            </a:r>
          </a:p>
        </p:txBody>
      </p:sp>
      <p:pic>
        <p:nvPicPr>
          <p:cNvPr id="7" name="Picture 2" descr="Learn and Earn via Digital Skills">
            <a:extLst>
              <a:ext uri="{FF2B5EF4-FFF2-40B4-BE49-F238E27FC236}">
                <a16:creationId xmlns:a16="http://schemas.microsoft.com/office/drawing/2014/main" id="{99E61E0A-9CC8-4740-9C31-AB19507F25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72817"/>
            <a:ext cx="3864989" cy="6187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04065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15A133F-F74B-4E92-B7FB-84622597BF74}"/>
              </a:ext>
            </a:extLst>
          </p:cNvPr>
          <p:cNvPicPr>
            <a:picLocks noChangeAspect="1"/>
          </p:cNvPicPr>
          <p:nvPr/>
        </p:nvPicPr>
        <p:blipFill>
          <a:blip r:embed="rId2"/>
          <a:stretch>
            <a:fillRect/>
          </a:stretch>
        </p:blipFill>
        <p:spPr>
          <a:xfrm>
            <a:off x="1552722" y="1517421"/>
            <a:ext cx="8143875" cy="3257550"/>
          </a:xfrm>
          <a:prstGeom prst="rect">
            <a:avLst/>
          </a:prstGeom>
        </p:spPr>
      </p:pic>
      <p:sp>
        <p:nvSpPr>
          <p:cNvPr id="4" name="TextBox 3">
            <a:extLst>
              <a:ext uri="{FF2B5EF4-FFF2-40B4-BE49-F238E27FC236}">
                <a16:creationId xmlns:a16="http://schemas.microsoft.com/office/drawing/2014/main" id="{AA5E07CF-9EBB-4AFC-AD31-2B9C4BEE3B05}"/>
              </a:ext>
            </a:extLst>
          </p:cNvPr>
          <p:cNvSpPr txBox="1"/>
          <p:nvPr/>
        </p:nvSpPr>
        <p:spPr>
          <a:xfrm>
            <a:off x="2919609" y="845810"/>
            <a:ext cx="4270342" cy="400110"/>
          </a:xfrm>
          <a:prstGeom prst="rect">
            <a:avLst/>
          </a:prstGeom>
          <a:noFill/>
        </p:spPr>
        <p:txBody>
          <a:bodyPr wrap="square" rtlCol="0">
            <a:spAutoFit/>
          </a:bodyPr>
          <a:lstStyle/>
          <a:p>
            <a:pPr algn="ctr"/>
            <a:r>
              <a:rPr lang="en-US" sz="2000" b="1" dirty="0"/>
              <a:t>Employees Revenue Performance </a:t>
            </a:r>
          </a:p>
        </p:txBody>
      </p:sp>
      <p:sp>
        <p:nvSpPr>
          <p:cNvPr id="5" name="TextBox 4">
            <a:extLst>
              <a:ext uri="{FF2B5EF4-FFF2-40B4-BE49-F238E27FC236}">
                <a16:creationId xmlns:a16="http://schemas.microsoft.com/office/drawing/2014/main" id="{53D523C4-F908-4EB9-8F21-B3E5BB24D1CD}"/>
              </a:ext>
            </a:extLst>
          </p:cNvPr>
          <p:cNvSpPr txBox="1"/>
          <p:nvPr/>
        </p:nvSpPr>
        <p:spPr>
          <a:xfrm>
            <a:off x="1552722" y="4862112"/>
            <a:ext cx="8964891" cy="1754326"/>
          </a:xfrm>
          <a:prstGeom prst="rect">
            <a:avLst/>
          </a:prstGeom>
          <a:noFill/>
        </p:spPr>
        <p:txBody>
          <a:bodyPr wrap="square" rtlCol="0">
            <a:spAutoFit/>
          </a:bodyPr>
          <a:lstStyle/>
          <a:p>
            <a:pPr marL="285750" indent="-285750">
              <a:buFont typeface="Arial" panose="020B0604020202020204" pitchFamily="34" charset="0"/>
              <a:buChar char="•"/>
            </a:pPr>
            <a:r>
              <a:rPr lang="en-US" dirty="0"/>
              <a:t>Employees like </a:t>
            </a:r>
            <a:r>
              <a:rPr lang="en-US" b="1" dirty="0"/>
              <a:t>Margaret Peacock, Nancy </a:t>
            </a:r>
            <a:r>
              <a:rPr lang="en-US" b="1" dirty="0" err="1"/>
              <a:t>Davolio</a:t>
            </a:r>
            <a:r>
              <a:rPr lang="en-US" dirty="0"/>
              <a:t> and </a:t>
            </a:r>
            <a:r>
              <a:rPr lang="en-US" b="1" dirty="0"/>
              <a:t>Janet </a:t>
            </a:r>
            <a:r>
              <a:rPr lang="en-US" b="1" dirty="0" err="1"/>
              <a:t>Leverling</a:t>
            </a:r>
            <a:r>
              <a:rPr lang="en-US" dirty="0"/>
              <a:t> lead in revenue generation.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They handle high-value clients and maintain </a:t>
            </a:r>
            <a:r>
              <a:rPr lang="en-US" b="1" dirty="0"/>
              <a:t>efficient sales performance</a:t>
            </a:r>
            <a:r>
              <a:rPr lang="en-US" dirty="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Helps management </a:t>
            </a:r>
            <a:r>
              <a:rPr lang="en-US" b="1" dirty="0"/>
              <a:t>recognize top talent</a:t>
            </a:r>
            <a:r>
              <a:rPr lang="en-US" dirty="0"/>
              <a:t> and design incentive programs.</a:t>
            </a:r>
          </a:p>
        </p:txBody>
      </p:sp>
      <p:pic>
        <p:nvPicPr>
          <p:cNvPr id="6" name="Picture 2" descr="Learn and Earn via Digital Skills">
            <a:extLst>
              <a:ext uri="{FF2B5EF4-FFF2-40B4-BE49-F238E27FC236}">
                <a16:creationId xmlns:a16="http://schemas.microsoft.com/office/drawing/2014/main" id="{3C1E0DC1-88E2-490C-AD9E-B2EEFE22A1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72817"/>
            <a:ext cx="3864989" cy="6187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42786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339B1CB-0029-4FC9-BFC9-DBFA2581C2A4}"/>
              </a:ext>
            </a:extLst>
          </p:cNvPr>
          <p:cNvPicPr>
            <a:picLocks noChangeAspect="1"/>
          </p:cNvPicPr>
          <p:nvPr/>
        </p:nvPicPr>
        <p:blipFill>
          <a:blip r:embed="rId2"/>
          <a:stretch>
            <a:fillRect/>
          </a:stretch>
        </p:blipFill>
        <p:spPr>
          <a:xfrm>
            <a:off x="1356479" y="1626456"/>
            <a:ext cx="8724900" cy="3238500"/>
          </a:xfrm>
          <a:prstGeom prst="rect">
            <a:avLst/>
          </a:prstGeom>
        </p:spPr>
      </p:pic>
      <p:sp>
        <p:nvSpPr>
          <p:cNvPr id="4" name="TextBox 3">
            <a:extLst>
              <a:ext uri="{FF2B5EF4-FFF2-40B4-BE49-F238E27FC236}">
                <a16:creationId xmlns:a16="http://schemas.microsoft.com/office/drawing/2014/main" id="{E62C6F31-F4F2-4704-821E-2E801B4F9D48}"/>
              </a:ext>
            </a:extLst>
          </p:cNvPr>
          <p:cNvSpPr txBox="1"/>
          <p:nvPr/>
        </p:nvSpPr>
        <p:spPr>
          <a:xfrm>
            <a:off x="2648931" y="958981"/>
            <a:ext cx="5081048" cy="400110"/>
          </a:xfrm>
          <a:prstGeom prst="rect">
            <a:avLst/>
          </a:prstGeom>
          <a:noFill/>
        </p:spPr>
        <p:txBody>
          <a:bodyPr wrap="square" rtlCol="0">
            <a:spAutoFit/>
          </a:bodyPr>
          <a:lstStyle/>
          <a:p>
            <a:pPr algn="ctr"/>
            <a:r>
              <a:rPr lang="en-US" sz="2000" b="1" dirty="0"/>
              <a:t>Shipper Performance Overview</a:t>
            </a:r>
          </a:p>
        </p:txBody>
      </p:sp>
      <p:sp>
        <p:nvSpPr>
          <p:cNvPr id="5" name="TextBox 4">
            <a:extLst>
              <a:ext uri="{FF2B5EF4-FFF2-40B4-BE49-F238E27FC236}">
                <a16:creationId xmlns:a16="http://schemas.microsoft.com/office/drawing/2014/main" id="{AFDBCD75-FEA7-4169-AB6B-0F856AFB27AB}"/>
              </a:ext>
            </a:extLst>
          </p:cNvPr>
          <p:cNvSpPr txBox="1"/>
          <p:nvPr/>
        </p:nvSpPr>
        <p:spPr>
          <a:xfrm>
            <a:off x="1715678" y="5061132"/>
            <a:ext cx="6947554" cy="1477328"/>
          </a:xfrm>
          <a:prstGeom prst="rect">
            <a:avLst/>
          </a:prstGeom>
          <a:noFill/>
        </p:spPr>
        <p:txBody>
          <a:bodyPr wrap="square" rtlCol="0">
            <a:spAutoFit/>
          </a:bodyPr>
          <a:lstStyle/>
          <a:p>
            <a:pPr marL="285750" indent="-285750">
              <a:buFont typeface="Arial" panose="020B0604020202020204" pitchFamily="34" charset="0"/>
              <a:buChar char="•"/>
            </a:pPr>
            <a:r>
              <a:rPr lang="en-US" b="1" dirty="0"/>
              <a:t>United </a:t>
            </a:r>
            <a:r>
              <a:rPr lang="en-US" b="1" dirty="0" err="1"/>
              <a:t>Pakages</a:t>
            </a:r>
            <a:r>
              <a:rPr lang="en-US" dirty="0"/>
              <a:t> handles the largest share of shipments and revenue.</a:t>
            </a:r>
            <a:br>
              <a:rPr lang="en-US" dirty="0"/>
            </a:br>
            <a:endParaRPr lang="en-US" dirty="0"/>
          </a:p>
          <a:p>
            <a:pPr marL="285750" indent="-285750">
              <a:buFont typeface="Arial" panose="020B0604020202020204" pitchFamily="34" charset="0"/>
              <a:buChar char="•"/>
            </a:pPr>
            <a:r>
              <a:rPr lang="en-US" b="1" dirty="0"/>
              <a:t>Speedy Express</a:t>
            </a:r>
            <a:r>
              <a:rPr lang="en-US" dirty="0"/>
              <a:t> and </a:t>
            </a:r>
            <a:r>
              <a:rPr lang="en-US" b="1" dirty="0"/>
              <a:t>Federal Shipping</a:t>
            </a:r>
            <a:r>
              <a:rPr lang="en-US" dirty="0"/>
              <a:t> follow closely behind.</a:t>
            </a:r>
            <a:br>
              <a:rPr lang="en-US" dirty="0"/>
            </a:br>
            <a:endParaRPr lang="en-US" dirty="0"/>
          </a:p>
          <a:p>
            <a:pPr marL="285750" indent="-285750">
              <a:buFont typeface="Arial" panose="020B0604020202020204" pitchFamily="34" charset="0"/>
              <a:buChar char="•"/>
            </a:pPr>
            <a:r>
              <a:rPr lang="en-US" dirty="0"/>
              <a:t>This supports </a:t>
            </a:r>
            <a:r>
              <a:rPr lang="en-US" b="1" dirty="0"/>
              <a:t>performance evaluation and partnership optimization</a:t>
            </a:r>
            <a:r>
              <a:rPr lang="en-US" dirty="0"/>
              <a:t>.</a:t>
            </a:r>
          </a:p>
        </p:txBody>
      </p:sp>
      <p:pic>
        <p:nvPicPr>
          <p:cNvPr id="6" name="Picture 2" descr="Learn and Earn via Digital Skills">
            <a:extLst>
              <a:ext uri="{FF2B5EF4-FFF2-40B4-BE49-F238E27FC236}">
                <a16:creationId xmlns:a16="http://schemas.microsoft.com/office/drawing/2014/main" id="{9E112E5C-6722-4F95-A715-4C792AB994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72817"/>
            <a:ext cx="3864989" cy="6187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23985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47F859D-35C0-4DA5-A53B-AAC69645DC9F}"/>
              </a:ext>
            </a:extLst>
          </p:cNvPr>
          <p:cNvSpPr txBox="1"/>
          <p:nvPr/>
        </p:nvSpPr>
        <p:spPr>
          <a:xfrm>
            <a:off x="1286758" y="5273416"/>
            <a:ext cx="9417377" cy="1477328"/>
          </a:xfrm>
          <a:prstGeom prst="rect">
            <a:avLst/>
          </a:prstGeom>
          <a:noFill/>
        </p:spPr>
        <p:txBody>
          <a:bodyPr wrap="square" rtlCol="0">
            <a:spAutoFit/>
          </a:bodyPr>
          <a:lstStyle/>
          <a:p>
            <a:r>
              <a:rPr lang="en-US" b="1" dirty="0"/>
              <a:t>Plutzer Lebensmittelgroßmärkte AG led</a:t>
            </a:r>
            <a:r>
              <a:rPr lang="en-US" dirty="0"/>
              <a:t> in total revenue </a:t>
            </a:r>
            <a:r>
              <a:rPr lang="en-US" b="1" dirty="0"/>
              <a:t>(11,077)</a:t>
            </a:r>
            <a:r>
              <a:rPr lang="en-US" dirty="0"/>
              <a:t>, followed by </a:t>
            </a:r>
            <a:r>
              <a:rPr lang="en-US" b="1" dirty="0"/>
              <a:t>Specialty Biscuits Ltd. </a:t>
            </a:r>
            <a:r>
              <a:rPr lang="en-US" dirty="0"/>
              <a:t>and </a:t>
            </a:r>
            <a:r>
              <a:rPr lang="en-US" b="1" dirty="0"/>
              <a:t>Norske </a:t>
            </a:r>
            <a:r>
              <a:rPr lang="en-US" b="1" dirty="0" err="1"/>
              <a:t>Meierier</a:t>
            </a:r>
            <a:r>
              <a:rPr lang="en-US" b="1" dirty="0"/>
              <a:t>.</a:t>
            </a:r>
            <a:br>
              <a:rPr lang="en-US" b="1" dirty="0"/>
            </a:br>
            <a:r>
              <a:rPr lang="en-US" dirty="0"/>
              <a:t>This shows which suppliers provide high-value, top-selling products.</a:t>
            </a:r>
            <a:br>
              <a:rPr lang="en-US" dirty="0"/>
            </a:br>
            <a:r>
              <a:rPr lang="en-US" dirty="0"/>
              <a:t>Management can use this insight to prioritize strong partnerships for reliable supply and profitability.</a:t>
            </a:r>
          </a:p>
        </p:txBody>
      </p:sp>
      <p:pic>
        <p:nvPicPr>
          <p:cNvPr id="6" name="Picture 2" descr="Learn and Earn via Digital Skills">
            <a:extLst>
              <a:ext uri="{FF2B5EF4-FFF2-40B4-BE49-F238E27FC236}">
                <a16:creationId xmlns:a16="http://schemas.microsoft.com/office/drawing/2014/main" id="{0D813CA7-3CF4-44D8-948E-86AF92B1B6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72817"/>
            <a:ext cx="3864989" cy="61879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AAF28CB9-68B0-4260-BE5A-6148159A6385}"/>
              </a:ext>
            </a:extLst>
          </p:cNvPr>
          <p:cNvPicPr>
            <a:picLocks noChangeAspect="1"/>
          </p:cNvPicPr>
          <p:nvPr/>
        </p:nvPicPr>
        <p:blipFill>
          <a:blip r:embed="rId3"/>
          <a:stretch>
            <a:fillRect/>
          </a:stretch>
        </p:blipFill>
        <p:spPr>
          <a:xfrm>
            <a:off x="904973" y="845920"/>
            <a:ext cx="10180948" cy="4319183"/>
          </a:xfrm>
          <a:prstGeom prst="rect">
            <a:avLst/>
          </a:prstGeom>
        </p:spPr>
      </p:pic>
    </p:spTree>
    <p:extLst>
      <p:ext uri="{BB962C8B-B14F-4D97-AF65-F5344CB8AC3E}">
        <p14:creationId xmlns:p14="http://schemas.microsoft.com/office/powerpoint/2010/main" val="18558464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41191-722E-48F7-92E3-540DBB85CD45}"/>
              </a:ext>
            </a:extLst>
          </p:cNvPr>
          <p:cNvSpPr>
            <a:spLocks noGrp="1"/>
          </p:cNvSpPr>
          <p:nvPr>
            <p:ph type="title"/>
          </p:nvPr>
        </p:nvSpPr>
        <p:spPr>
          <a:xfrm>
            <a:off x="1121790" y="1666023"/>
            <a:ext cx="2432901" cy="709531"/>
          </a:xfrm>
        </p:spPr>
        <p:txBody>
          <a:bodyPr>
            <a:normAutofit/>
          </a:bodyPr>
          <a:lstStyle/>
          <a:p>
            <a:pPr algn="ctr"/>
            <a:r>
              <a:rPr lang="en-US" sz="3600" b="1" dirty="0"/>
              <a:t>Conclusion :</a:t>
            </a:r>
          </a:p>
        </p:txBody>
      </p:sp>
      <p:sp>
        <p:nvSpPr>
          <p:cNvPr id="3" name="TextBox 2">
            <a:extLst>
              <a:ext uri="{FF2B5EF4-FFF2-40B4-BE49-F238E27FC236}">
                <a16:creationId xmlns:a16="http://schemas.microsoft.com/office/drawing/2014/main" id="{7B24444F-C667-431D-BE98-42A824CC12FE}"/>
              </a:ext>
            </a:extLst>
          </p:cNvPr>
          <p:cNvSpPr txBox="1"/>
          <p:nvPr/>
        </p:nvSpPr>
        <p:spPr>
          <a:xfrm>
            <a:off x="970961" y="2460396"/>
            <a:ext cx="10382839" cy="1323439"/>
          </a:xfrm>
          <a:prstGeom prst="rect">
            <a:avLst/>
          </a:prstGeom>
          <a:noFill/>
        </p:spPr>
        <p:txBody>
          <a:bodyPr wrap="square" rtlCol="0">
            <a:spAutoFit/>
          </a:bodyPr>
          <a:lstStyle/>
          <a:p>
            <a:r>
              <a:rPr lang="en-US" sz="2000" dirty="0"/>
              <a:t>The Northwind dataset analysis reveals key insights into sales performance and operations. The USA and Australia are top markets, with Beverages and Condiments leading in sales. Monthly trends show steady growth, driven by key customers and employees, enabling data-driven decisions for business growth.</a:t>
            </a:r>
          </a:p>
        </p:txBody>
      </p:sp>
      <p:pic>
        <p:nvPicPr>
          <p:cNvPr id="4" name="Picture 3" descr="Learn and Earn via Digital Skills">
            <a:extLst>
              <a:ext uri="{FF2B5EF4-FFF2-40B4-BE49-F238E27FC236}">
                <a16:creationId xmlns:a16="http://schemas.microsoft.com/office/drawing/2014/main" id="{559507C7-A1D5-4372-A481-E178008FAB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390" y="212798"/>
            <a:ext cx="4562573" cy="7304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06027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505</TotalTime>
  <Words>584</Words>
  <Application>Microsoft Office PowerPoint</Application>
  <PresentationFormat>Widescreen</PresentationFormat>
  <Paragraphs>62</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CAPSTONE PROJECT 2</vt:lpstr>
      <vt:lpstr> Project Overview   End-to-end analysis of the Northwind sales dataset using MySQL for data querying and Power BI for interactive dashboarding.   Objective:   Transform raw transactional data into actionable insights on sales performance, customer behavior, and product profitability.    Outcomes:  A robust, refreshable dashboard enabling stakeholders to monitor revenue, top customers/products, regional trends, and order fulfillment KPIs in real time.  </vt:lpstr>
      <vt:lpstr>Tables In Northwind Database </vt:lpstr>
      <vt:lpstr>ERD Diagram (Northwind)</vt:lpstr>
      <vt:lpstr>Findings Through MySQL </vt:lpstr>
      <vt:lpstr>USA and Australia contribute the highest revenue, showing strong customer demand. </vt:lpstr>
      <vt:lpstr>USA leads significantly, with Australia and Canada following closely.</vt:lpstr>
      <vt:lpstr>January–February 1997 continue upward before slight decline. Reveals seasonal buying behavior and sales consistency.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 2</dc:title>
  <dc:creator>Wajiz.pk</dc:creator>
  <cp:lastModifiedBy>Muhammad Junaid</cp:lastModifiedBy>
  <cp:revision>39</cp:revision>
  <dcterms:created xsi:type="dcterms:W3CDTF">2025-11-10T20:47:31Z</dcterms:created>
  <dcterms:modified xsi:type="dcterms:W3CDTF">2025-11-18T18:44:29Z</dcterms:modified>
</cp:coreProperties>
</file>